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5106655e0340b6" /><Relationship Type="http://schemas.openxmlformats.org/officeDocument/2006/relationships/extended-properties" Target="/docProps/app.xml" Id="R189912a5f755412b" /><Relationship Type="http://schemas.openxmlformats.org/officeDocument/2006/relationships/officeDocument" Target="/ppt/presentation.xml" Id="Rf680e6b6bf484c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c8fdf8a1e04614"/>
  </p:sldMasterIdLst>
  <p:notesMasterIdLst>
    <p:notesMasterId xmlns:r="http://schemas.openxmlformats.org/officeDocument/2006/relationships" r:id="Rbddd324d89604e53"/>
  </p:notesMasterIdLst>
  <p:sldIdLst>
    <p:sldId xmlns:r="http://schemas.openxmlformats.org/officeDocument/2006/relationships" id="256" r:id="R16e60532a45448c1"/>
    <p:sldId xmlns:r="http://schemas.openxmlformats.org/officeDocument/2006/relationships" id="257" r:id="R61c3dabe2f134b2a"/>
    <p:sldId xmlns:r="http://schemas.openxmlformats.org/officeDocument/2006/relationships" id="258" r:id="Rcafd86bbd908472c"/>
    <p:sldId xmlns:r="http://schemas.openxmlformats.org/officeDocument/2006/relationships" id="259" r:id="Rced9f55626f84b00"/>
    <p:sldId xmlns:r="http://schemas.openxmlformats.org/officeDocument/2006/relationships" id="260" r:id="R89fdff4586304fd1"/>
    <p:sldId xmlns:r="http://schemas.openxmlformats.org/officeDocument/2006/relationships" id="261" r:id="R56f08515536845e7"/>
    <p:sldId xmlns:r="http://schemas.openxmlformats.org/officeDocument/2006/relationships" id="262" r:id="Re0ca5ec4410f480b"/>
    <p:sldId xmlns:r="http://schemas.openxmlformats.org/officeDocument/2006/relationships" id="263" r:id="Rf0424d20ad1143f7"/>
    <p:sldId xmlns:r="http://schemas.openxmlformats.org/officeDocument/2006/relationships" id="264" r:id="Re6ca11c1d23c4989"/>
    <p:sldId xmlns:r="http://schemas.openxmlformats.org/officeDocument/2006/relationships" id="265" r:id="Ra9ec3132bf6f455f"/>
    <p:sldId xmlns:r="http://schemas.openxmlformats.org/officeDocument/2006/relationships" id="266" r:id="R99f36da28e79454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aaa48830df4a5b" /><Relationship Type="http://schemas.openxmlformats.org/officeDocument/2006/relationships/slideMaster" Target="/ppt/slideMasters/slideMaster1.xml" Id="R91c8fdf8a1e04614" /><Relationship Type="http://schemas.openxmlformats.org/officeDocument/2006/relationships/notesMaster" Target="/ppt/notesMasters/notesMaster1.xml" Id="Rbddd324d89604e53" /><Relationship Type="http://schemas.openxmlformats.org/officeDocument/2006/relationships/presProps" Target="/ppt/presProps.xml" Id="R114408de43c141b2" /><Relationship Type="http://schemas.openxmlformats.org/officeDocument/2006/relationships/viewProps" Target="/ppt/viewProps.xml" Id="Re5601d91a4b143b4" /><Relationship Type="http://schemas.openxmlformats.org/officeDocument/2006/relationships/tableStyles" Target="/ppt/tableStyles.xml" Id="R0500001075a0441a" /><Relationship Type="http://schemas.openxmlformats.org/officeDocument/2006/relationships/slide" Target="/ppt/slides/slide1.xml" Id="R16e60532a45448c1" /><Relationship Type="http://schemas.openxmlformats.org/officeDocument/2006/relationships/slide" Target="/ppt/slides/slide2.xml" Id="R61c3dabe2f134b2a" /><Relationship Type="http://schemas.openxmlformats.org/officeDocument/2006/relationships/slide" Target="/ppt/slides/slide3.xml" Id="Rcafd86bbd908472c" /><Relationship Type="http://schemas.openxmlformats.org/officeDocument/2006/relationships/slide" Target="/ppt/slides/slide4.xml" Id="Rced9f55626f84b00" /><Relationship Type="http://schemas.openxmlformats.org/officeDocument/2006/relationships/slide" Target="/ppt/slides/slide5.xml" Id="R89fdff4586304fd1" /><Relationship Type="http://schemas.openxmlformats.org/officeDocument/2006/relationships/slide" Target="/ppt/slides/slide6.xml" Id="R56f08515536845e7" /><Relationship Type="http://schemas.openxmlformats.org/officeDocument/2006/relationships/slide" Target="/ppt/slides/slide7.xml" Id="Re0ca5ec4410f480b" /><Relationship Type="http://schemas.openxmlformats.org/officeDocument/2006/relationships/slide" Target="/ppt/slides/slide8.xml" Id="Rf0424d20ad1143f7" /><Relationship Type="http://schemas.openxmlformats.org/officeDocument/2006/relationships/slide" Target="/ppt/slides/slide9.xml" Id="Re6ca11c1d23c4989" /><Relationship Type="http://schemas.openxmlformats.org/officeDocument/2006/relationships/slide" Target="/ppt/slides/slide10.xml" Id="Ra9ec3132bf6f455f" /><Relationship Type="http://schemas.openxmlformats.org/officeDocument/2006/relationships/slide" Target="/ppt/slides/slide11.xml" Id="R99f36da28e7945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637a11efaf4e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22e90f94204fc2" /><Relationship Type="http://schemas.openxmlformats.org/officeDocument/2006/relationships/notesMaster" Target="/ppt/notesMasters/notesMaster1.xml" Id="Rc2efaa4f3d7e47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d05f147fc249ee" /><Relationship Type="http://schemas.openxmlformats.org/officeDocument/2006/relationships/notesMaster" Target="/ppt/notesMasters/notesMaster1.xml" Id="Rb7a0eb93da0149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8ff09377fb4b3f" /><Relationship Type="http://schemas.openxmlformats.org/officeDocument/2006/relationships/notesMaster" Target="/ppt/notesMasters/notesMaster1.xml" Id="R8b583841b50e44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6dccfdfcfa4932" /><Relationship Type="http://schemas.openxmlformats.org/officeDocument/2006/relationships/notesMaster" Target="/ppt/notesMasters/notesMaster1.xml" Id="Ra232ef6ea1dc47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b76b5b2fc44f32" /><Relationship Type="http://schemas.openxmlformats.org/officeDocument/2006/relationships/notesMaster" Target="/ppt/notesMasters/notesMaster1.xml" Id="R854970f4f07045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6183e398fe4ddf" /><Relationship Type="http://schemas.openxmlformats.org/officeDocument/2006/relationships/notesMaster" Target="/ppt/notesMasters/notesMaster1.xml" Id="Reeb50b7822aa44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0e6794b55541cf" /><Relationship Type="http://schemas.openxmlformats.org/officeDocument/2006/relationships/notesMaster" Target="/ppt/notesMasters/notesMaster1.xml" Id="R6577ac14761548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407f50dc554cb7" /><Relationship Type="http://schemas.openxmlformats.org/officeDocument/2006/relationships/notesMaster" Target="/ppt/notesMasters/notesMaster1.xml" Id="Rbf4e38d6ab8d47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3b986f620a4bee" /><Relationship Type="http://schemas.openxmlformats.org/officeDocument/2006/relationships/notesMaster" Target="/ppt/notesMasters/notesMaster1.xml" Id="R55d13a076a404b5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6f5ce617b2448c2" /><Relationship Type="http://schemas.openxmlformats.org/officeDocument/2006/relationships/notesMaster" Target="/ppt/notesMasters/notesMaster1.xml" Id="R238f818f599741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4b055ac845a41d4" /><Relationship Type="http://schemas.openxmlformats.org/officeDocument/2006/relationships/notesMaster" Target="/ppt/notesMasters/notesMaster1.xml" Id="R7f0325c7b4664a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25cdd19e5445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752f9f10be4c00" /><Relationship Type="http://schemas.openxmlformats.org/officeDocument/2006/relationships/slideLayout" Target="/ppt/slideLayouts/slideLayout1.xml" Id="Rd5816606f22642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816606f22642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1b781bdc04c26" /><Relationship Type="http://schemas.openxmlformats.org/officeDocument/2006/relationships/notesSlide" Target="/ppt/notesSlides/notesSlide1.xml" Id="Rb2e3c1da5e2f4d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cf71391f343ca" /><Relationship Type="http://schemas.openxmlformats.org/officeDocument/2006/relationships/notesSlide" Target="/ppt/notesSlides/notesSlide2.xml" Id="Rb95ad44a832c43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8aacb5f9b4023" /><Relationship Type="http://schemas.openxmlformats.org/officeDocument/2006/relationships/notesSlide" Target="/ppt/notesSlides/notesSlide3.xml" Id="Rd646513ec6324e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12bcbb302d4186" /><Relationship Type="http://schemas.openxmlformats.org/officeDocument/2006/relationships/notesSlide" Target="/ppt/notesSlides/notesSlide4.xml" Id="Re9600a0748f348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48c00c8e694701" /><Relationship Type="http://schemas.openxmlformats.org/officeDocument/2006/relationships/notesSlide" Target="/ppt/notesSlides/notesSlide5.xml" Id="Rfdf9e7892e9d418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248fad1194c2b" /><Relationship Type="http://schemas.openxmlformats.org/officeDocument/2006/relationships/image" Target="/ppt/media/image.png" Id="R85c1a5c1a1754a0a" /><Relationship Type="http://schemas.openxmlformats.org/officeDocument/2006/relationships/notesSlide" Target="/ppt/notesSlides/notesSlide6.xml" Id="R61a856a631024b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ae6292f894505" /><Relationship Type="http://schemas.openxmlformats.org/officeDocument/2006/relationships/image" Target="/ppt/media/image2.png" Id="R19b1ab2cb4aa40e1" /><Relationship Type="http://schemas.openxmlformats.org/officeDocument/2006/relationships/image" Target="/ppt/media/image3.png" Id="R42f943d826c145e0" /><Relationship Type="http://schemas.openxmlformats.org/officeDocument/2006/relationships/image" Target="/ppt/media/image4.png" Id="R1d054932e292464a" /><Relationship Type="http://schemas.openxmlformats.org/officeDocument/2006/relationships/notesSlide" Target="/ppt/notesSlides/notesSlide7.xml" Id="Rf8b9dabea17d48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640bf8c754706" /><Relationship Type="http://schemas.openxmlformats.org/officeDocument/2006/relationships/notesSlide" Target="/ppt/notesSlides/notesSlide8.xml" Id="Rf7c7d365db534a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c6f6c640a94a34" /><Relationship Type="http://schemas.openxmlformats.org/officeDocument/2006/relationships/notesSlide" Target="/ppt/notesSlides/notesSlide9.xml" Id="R47f26f31097b443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49dbc11d774a96" /><Relationship Type="http://schemas.openxmlformats.org/officeDocument/2006/relationships/notesSlide" Target="/ppt/notesSlides/notesSlide10.xml" Id="R4f9eda5b08654d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296391290476c" /><Relationship Type="http://schemas.openxmlformats.org/officeDocument/2006/relationships/notesSlide" Target="/ppt/notesSlides/notesSlide11.xml" Id="R142bbad3c52e454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843F07-F90D-4A8C-9BDA-C1435458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9761C-0525-46C4-A080-2F1BCC40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26858-384C-43E4-B825-30620C1C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5300"/>
            <a:ext cx="1600200" cy="266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RAVES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37DF9-1B7F-4075-A326-CD3767F9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781050"/>
            <a:ext cx="1600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FB9D2"/>
                </a:solidFill>
              </a:defRPr>
            </a:pPr>
            <a:r>
              <a:rPr sz="975" b="0">
                <a:solidFill>
                  <a:srgbClr val="9FB9D2"/>
                </a:solidFill>
              </a:rPr>
              <a:t>Blueprint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BB9DB9-3190-4570-8B74-C61BC0DA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334250" cy="666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CCE5"/>
                </a:solidFill>
              </a:defRPr>
            </a:pPr>
            <a:r>
              <a:rPr sz="1350" b="1">
                <a:solidFill>
                  <a:srgbClr val="A7CCE5"/>
                </a:solidFill>
              </a:rPr>
              <a:t>Blueprint Next Phase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5A20B-6A75-489C-BD35-32C932B5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8382000" cy="8572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Blueprint Books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0D85CB-8C58-4C37-8DA6-CC2D3CA8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83820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FE0C8"/>
                </a:solidFill>
              </a:defRPr>
            </a:pPr>
            <a:r>
              <a:rPr sz="1950" b="1">
                <a:solidFill>
                  <a:srgbClr val="9FE0C8"/>
                </a:solidFill>
              </a:rPr>
              <a:t>Construction financial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73111E-FD3D-453D-81D8-D74A1D6F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7810500" cy="9144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9EAF8"/>
                </a:solidFill>
              </a:defRPr>
            </a:pPr>
            <a:r>
              <a:rPr sz="1725" b="0">
                <a:solidFill>
                  <a:srgbClr val="D9EAF8"/>
                </a:solidFill>
              </a:rPr>
              <a:t>Run job-costed books inside the platform Raves already uses, instead of spreadsheets and disconnected accounting.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1C939-C42E-401A-BD65-CE77024D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495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EB3"/>
          </a:solidFill>
          <a:ln xmlns:a="http://schemas.openxmlformats.org/drawingml/2006/main" w="0">
            <a:solidFill>
              <a:srgbClr val="2A7EB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4E4839-DA89-427E-9757-DEB46814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43450"/>
            <a:ext cx="6858000" cy="5715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Decision ask: approve the Books Foundation build and confirm the accounting owner and opening balances.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849DE-9E2A-464D-A809-1DB0C6EF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5905500" cy="5143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FB9D2"/>
                </a:solidFill>
              </a:defRPr>
            </a:pPr>
            <a:r>
              <a:rPr sz="1125" b="0">
                <a:solidFill>
                  <a:srgbClr val="9FB9D2"/>
                </a:solidFill>
              </a:rPr>
              <a:t>Prepared for Raves Inc. / Raves Construction</a:t>
            </a:r>
          </a:p>
          <a:p xmlns:a="http://schemas.openxmlformats.org/drawingml/2006/main">
            <a:pPr algn="l">
              <a:defRPr sz="1125" b="0">
                <a:solidFill>
                  <a:srgbClr val="9FB9D2"/>
                </a:solidFill>
              </a:defRPr>
            </a:pPr>
            <a:r>
              <a:rPr sz="1125" b="0">
                <a:solidFill>
                  <a:srgbClr val="9FB9D2"/>
                </a:solidFill>
              </a:rPr>
              <a:t>June 9,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D572BE-3640-4DF0-9C14-04B02136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Blueprint Books for Raves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AEBF7-798E-41BA-8B07-06A603B5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2071075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CB2097-3969-49F1-A502-C2F1C57A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4C4CA6-BAF7-4AB3-8A93-DAAF61F3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WHY 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2F1815-E17F-43D5-995F-B13E26D4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The money already flows through Blueprint. The books do not yet.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416CE-5F7D-405D-83D8-47EEDBB1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86"/>
                </a:solidFill>
              </a:defRPr>
            </a:pPr>
            <a:r>
              <a:rPr sz="1425" b="0">
                <a:solidFill>
                  <a:srgbClr val="5F6F86"/>
                </a:solidFill>
              </a:rPr>
              <a:t>Quotes, vendors, and attachments live in Blueprint, but profit, A/R, and A/P still live in spreadsheets.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A1389-091F-4020-B8F3-68152C51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DABA5D-0B47-4F36-BADC-A38BF752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7B350-606B-44FD-8CC1-204DA142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$9.3M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9441E7-9308-4BC6-9FA6-12ABEA77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open value in the loaded quote 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B2CB4-D6B9-435D-886E-54C1801C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50C2AA-9B60-473B-909A-B5BAAC88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5BEDED-3936-4CF5-9635-B16ADA56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536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79A200-5C3C-4FC0-9798-A1B609E5C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loaded quote-log records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CC44D0-AB8A-4CB9-BBEA-D8A0027F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78E1FE-B622-4948-9B35-8A67E350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91F68A-F178-449E-9F3A-06126086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48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6D0F60-9E19-4D92-87A4-81152F29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task records driving job activity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393F91-C790-410E-80DC-C5D364F0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FAD6A-30AF-4136-BC79-C96FA652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58A166-BFF3-4131-A865-2A3C1188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23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C8A14D-9A08-41AA-8F61-B8B552F9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email attachments (invoices, bills, POs)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B84A35-DF27-491A-BD77-FB243D0C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1338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1E88FA-2276-4DA3-BD9D-CDCF0DE5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1338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2E207-5194-4C22-9F1C-769778DF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3243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8 / 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F01CCC-4AA6-484D-ADBD-A6643041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7625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provisioned users / active last 7 days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1C1EFF-52B3-4C7E-859F-D2A06F7F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338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CCD780-7F68-4329-94C3-03447BAE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338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545"/>
          </a:solidFill>
          <a:ln xmlns:a="http://schemas.openxmlformats.org/drawingml/2006/main" w="0">
            <a:solidFill>
              <a:srgbClr val="B5454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33791A-24D5-47BE-B0A7-F4081BB6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243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E43CB2-ACF3-4B4E-AA17-620BBBBD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7625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of that visible as job-costed books today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EBAA23-F2FE-468B-804A-120D8805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338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B19421-60F6-4EE7-AC6B-E968C4B4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338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40EA34-A32C-4072-9498-6A5AD47D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27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5EF4F3-D277-4A6B-BAB4-21343F04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prospect records feeding future revenue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61F09A-2025-49FD-A889-63D8D4E6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448856-22B9-42E0-98F5-FA40EDB7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4746451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224BCB-3C6D-4B8F-B1BE-6FA98D7D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E99D-024F-428A-9505-1B359D41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SYSTEM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CD0C85-8704-48FF-88D3-9D419992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Turn work Raves already tracks into double-entry books.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78E4C8-1DE5-4974-AC2E-567F76F7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F2301-4DA4-42AE-BF1A-A1DE8A66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0826D-DF6E-4BCB-8A2B-EAA51B50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57450"/>
            <a:ext cx="23622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What Blueprint already holds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25EE7-3808-4195-88D1-8DEC28F9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F283CF-45BC-463E-9FCA-BFC5C81C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908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Won quotes and contract value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5C9D14-E263-4308-9093-8AE05AF8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D1A722-6D08-4633-B4F1-4968BA82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480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Vendor bills and POs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B25C1-1F63-43FA-BAD5-417A9596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81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6CC759-6797-492A-8E43-7AAC2405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Customer and vendor records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A795BD-16EC-4434-B6B4-F67B36BE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F74ECD-19EB-4548-87F3-BFEC855A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624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Job activity and attachments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569988-0B3B-4DAA-81AD-687771C3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907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C3F536-A28B-41F8-8D03-D9638449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9075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199D0F-05C9-4E1E-A34F-E3DF497F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57450"/>
            <a:ext cx="23622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Blueprint Books ledger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70CEE-450F-45BC-A085-7299C4AE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67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28BAA-2347-4D6A-901D-7BA0848D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908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Job-costed chart of accounts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4BEE20-F16B-49B6-A62B-77A22055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485B07-4284-4809-B4D7-D5B5EED6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480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Invoices, payments, A/R aging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F53EDF-4419-4730-8808-8903AF6F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81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95D67-99E4-45E5-B35D-40EAC9C4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9052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Bills, payments, A/P aging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FEBDD7-2D8C-4CCA-A626-262CDFC0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38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4F2162-3126-41AD-B014-639840C1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624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Journal, trial balance, close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2D84F0-D93B-4345-A89F-E3371FFB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B207A2-41FD-473F-B4CE-C74B03C9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50D7E7-44B5-45E8-8469-D6260D0A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57450"/>
            <a:ext cx="23622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What Raves leadership sees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40A906-94FD-409A-9F43-A9FA3729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67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32A7E3-1359-4790-877E-434D52C3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908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Profit per job, not guesses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905DF0-B80E-4298-9573-F0810BF5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D7B885-96FC-482C-AD0A-EE7151F7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4480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Who owes us and what we owe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7E52E6-0CE4-472A-93FE-0F495964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981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E27290-4D84-4552-90C3-A04032E0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9052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Tax-ready P&amp;L and balance sheet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965936-8865-410E-AD5B-4D3960F6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438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2182E1-CB3A-4DB1-A0FB-EBA4FD71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3624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Clean, locked month-end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393674-7FCF-4201-A7FB-46CDC09E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276600"/>
            <a:ext cx="552450" cy="4381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D7F5F"/>
                </a:solidFill>
              </a:defRPr>
            </a:pPr>
            <a:r>
              <a:rPr sz="2550" b="1">
                <a:solidFill>
                  <a:srgbClr val="1D7F5F"/>
                </a:solidFill>
              </a:rPr>
              <a:t>-&gt;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C65B0A-8437-479C-91BC-E17D76B9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552450" cy="4381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45DA0"/>
                </a:solidFill>
              </a:defRPr>
            </a:pPr>
            <a:r>
              <a:rPr sz="25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BC587E-3E13-455F-BCBD-15CD22FD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267EBC-76BB-4255-8F67-74ACFD59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0076428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4F4144-879E-4F50-9F7B-AD6310EC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85043A-0DA5-4641-A5B1-9E8CA5F6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6EA"/>
                </a:solidFill>
              </a:defRPr>
            </a:pPr>
            <a:r>
              <a:rPr sz="1050" b="1">
                <a:solidFill>
                  <a:srgbClr val="BFD6EA"/>
                </a:solidFill>
              </a:rPr>
              <a:t>THE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1A520C-788A-4CA4-A649-1A9B51A1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The financial picture is stitched together by hand.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AA92F2-693D-4873-9AD7-3B65779B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FD6EA"/>
                </a:solidFill>
              </a:defRPr>
            </a:pPr>
            <a:r>
              <a:rPr sz="1425" b="0">
                <a:solidFill>
                  <a:srgbClr val="BFD6EA"/>
                </a:solidFill>
              </a:rPr>
              <a:t>The risk is not a lack of revenue. It is that revenue, cost, and cash live in separate places, so profit is a guess until the accountant catches up.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6E55CB-627F-463C-BABE-525534A1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5300"/>
            <a:ext cx="1600200" cy="266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RAVES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83C444-9996-40C7-B909-B1358355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781050"/>
            <a:ext cx="1600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FB9D2"/>
                </a:solidFill>
              </a:defRPr>
            </a:pPr>
            <a:r>
              <a:rPr sz="975" b="0">
                <a:solidFill>
                  <a:srgbClr val="9FB9D2"/>
                </a:solidFill>
              </a:rPr>
              <a:t>Blueprint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27EDF-A2A3-48CF-9EF4-99CB9394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EB8470-E7EE-45BD-A8F6-F56C8A98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545"/>
          </a:solidFill>
          <a:ln xmlns:a="http://schemas.openxmlformats.org/drawingml/2006/main" w="0">
            <a:solidFill>
              <a:srgbClr val="B545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8A43C-B770-40DB-A5DF-6BF2C69F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Job profit is a guess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21B0A7-36B8-4369-B8E2-92CA78EE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Costs sit in spreadsheets and email, so margin per job is only known late, if at all.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7C390-A31B-496A-91D8-26886B9A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C474B4-2F19-4B08-A2F7-EC111F29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50F8F9-C671-442B-8F8F-C1577BD5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A/R slips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0F5C8A-877D-494E-9564-40649978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Without aging in the tool, slow-paying customers are noticed by feel, not by report.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B5EB52-2058-4493-984E-B795FB7F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4E9FEE-7D55-4B7D-8351-325FDACD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AC1656-7164-4C22-B616-D6746642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Retainage by hand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9E2018-7889-43E8-BA60-FA03ABBA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Retainage receivable and payable on construction jobs is tracked manually and easy to lose.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9F55A4-DDE6-44BC-A3AF-65212CE8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02C6E3-45B6-45B8-B804-43521117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0E29BA-9E59-4D2A-8F5C-64FF5007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Month-end is manual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DA855A-1751-4BC3-9955-04861A4F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Closing the books means re-keying Blueprint data into separate accounting software.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1A0DC7-30A5-4685-AC54-ED1B0C40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7810500" cy="4191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Recommended next funded phase: Blueprint Books Foundation.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443B55-8057-4DB8-9AE9-EFFF8D5A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Blueprint Books for Raves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2DD8B8-2607-4CEE-A0B5-82FB6DEA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034131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92A29F-F8B1-432F-A5DE-CB58F1F5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933334-9B97-4CE1-B9F0-CEB3AA29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WHAT IT DELIVERS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BCE7F-30A1-43F2-9FEF-AAB4FBA6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A real set of construction books, already built into Blueprint.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BC9D4-C0CB-47D1-BE5C-73B43F59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8EFD2-67E4-4536-841D-51CE0215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13F0E5-4D47-4D45-BFE5-590418D6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Job costing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7D8755-EB8E-41F4-94AB-B725DB5E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Profit and margin per job, built from invoices, bills, and expenses tagged with the job.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11FDB-EDF5-433C-8C14-7FDBCD86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F78B48-2CA8-4D18-BBD0-0ACFEFCA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606BC4-55B9-4F97-BE04-B8402D33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Invoices &amp; A/R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2DAEF7-5FF0-42C9-94A9-A9473D18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Invoice customers from won quotes, record payments and credit memos, watch A/R aging.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D65E41-6B65-4953-A791-AFBF4DFA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97B9DC-0D89-46DD-AF37-BD73B518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F1B27A-9AFB-44D8-B4C2-22CE1084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Bills &amp; A/P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649DE6-3E0B-47BB-B187-8756780A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Vendor bills, payments, vendor credits, one-click expense entry, and A/P aging.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F864C3-E284-4387-9F69-DA0930A9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DDE790-0148-4898-88CF-B5FD1207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608F69-D998-430D-AA43-7B1107E8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Ledger &amp; registers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0C5DFB-6D33-4B22-9667-C9EC1713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Double-entry journal, a live trial balance, and a running-balance register per account.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56969F-30EA-4B57-84FC-678F2D50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A1AA7E-BB41-43C7-81C1-D5C55F02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EEA548-FDB2-4B62-93D1-C99DD87E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Statements &amp; reports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E258B4-6C5B-47BF-8D64-0FB992A2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Income statement, balance sheet, cash flow, and P&amp;L by month — print-ready on demand.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5587DF-60EF-48E5-95A7-F4488289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9E3ED9-EA30-4162-8374-06698CBE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E5AE06-B7CD-4812-B353-5DB5BD68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Close &amp; PDFs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944C3E-BDF7-4CA6-9178-E1827CBB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Lock a period when it is final, and send branded invoice, bill, and statement PDFs.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D88CEC-B7E4-4F85-9A73-BF067405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59EC9D-2329-4331-8539-E57AD1BD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465019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F70CFB-89BE-4EC5-9DF2-94D044F4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85B00-0CDC-43D6-9BAB-2CE6CD84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689610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2ED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c1a5c1a1754a0a"/>
          <a:stretch xmlns:a="http://schemas.openxmlformats.org/drawingml/2006/main"/>
        </p:blipFill>
        <p:spPr>
          <a:xfrm xmlns:a="http://schemas.openxmlformats.org/drawingml/2006/main">
            <a:off x="685800" y="1943100"/>
            <a:ext cx="6858000" cy="4343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92076-D2ED-4906-BBC4-10D9E301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PRODUCT WALKTHROUGH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75AFF9-B6DB-40FE-A885-66BC33FB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Already built — this is the live product, not a mockup.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D4BCF-8BC9-4FA7-9775-83A518AB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86"/>
                </a:solidFill>
              </a:defRPr>
            </a:pPr>
            <a:r>
              <a:rPr sz="1425" b="0">
                <a:solidFill>
                  <a:srgbClr val="5F6F86"/>
                </a:solidFill>
              </a:rPr>
              <a:t>Screenshots from the deployed module with demo books loaded; every figure ties out.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F55AFD-C62F-413C-9D70-80A366E1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3147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1B1BD7-AED7-4206-A739-DC82F134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482F9-CCCC-46AA-A7AE-5B2C39DF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33600"/>
            <a:ext cx="29337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Money at a glance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D37EA-BAAF-41E8-8AF5-2D2A2A8E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29146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Cash, A/R, A/P, and profit — each with month-over-month direction.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BAE6C3-4135-40A2-8F6F-6E7F3057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38500"/>
            <a:ext cx="33147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31786B-66D3-4AED-B817-3229B0A8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385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F79351-1DE9-4E12-9683-C9F6B174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29000"/>
            <a:ext cx="29337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Trend, not guesswork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FC0735-7B23-4153-BAAE-129121C9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90950"/>
            <a:ext cx="29146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Six months of revenue vs expenses, with net income per month.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93937E-5629-4710-BD4E-B7752C97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33900"/>
            <a:ext cx="33147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D5A2EE-CAC9-414F-B9C4-DFD41777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339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2941DE-7B3F-46DC-8EB7-7D3372FB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724400"/>
            <a:ext cx="29337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Urgency built 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803CC5-4144-496B-A22B-3878E466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086350"/>
            <a:ext cx="29146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Overdue invoices and bills due this week surface themselves.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2B469D-3BD0-4EBB-BD73-ED70C834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C2781E-A18C-4172-830B-BE7B9AFD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026145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9B4995-8EFF-4CAE-8968-D1D1F010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89D43-218D-45A9-A9F1-D5B3E464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PRODUCT WALKTHROUGH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ED509-B89C-4E11-A198-F36EA90B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From invoice to clean statements.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86E3E-913E-46C6-B6CD-E12EFAB0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43100"/>
            <a:ext cx="3543300" cy="2257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2ED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1ab2cb4aa40e1"/>
          <a:stretch xmlns:a="http://schemas.openxmlformats.org/drawingml/2006/main"/>
        </p:blipFill>
        <p:spPr>
          <a:xfrm xmlns:a="http://schemas.openxmlformats.org/drawingml/2006/main">
            <a:off x="685800" y="1962150"/>
            <a:ext cx="3505200" cy="22193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CCB194-BDCF-492B-B660-48192920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86"/>
                </a:solidFill>
              </a:defRPr>
            </a:pPr>
            <a:r>
              <a:rPr sz="975" b="0">
                <a:solidFill>
                  <a:srgbClr val="5F6F86"/>
                </a:solidFill>
              </a:rPr>
              <a:t>Invoices: status filters, overdue flags, payment progress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7DCE3D-2544-47F6-B532-CC5B916E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3543300" cy="2257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2ED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943d826c145e0"/>
          <a:stretch xmlns:a="http://schemas.openxmlformats.org/drawingml/2006/main"/>
        </p:blipFill>
        <p:spPr>
          <a:xfrm xmlns:a="http://schemas.openxmlformats.org/drawingml/2006/main">
            <a:off x="4343400" y="1962150"/>
            <a:ext cx="3505200" cy="22193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4F8030-FF64-4931-B882-1E7C7C3D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76725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86"/>
                </a:solidFill>
              </a:defRPr>
            </a:pPr>
            <a:r>
              <a:rPr sz="975" b="0">
                <a:solidFill>
                  <a:srgbClr val="5F6F86"/>
                </a:solidFill>
              </a:rPr>
              <a:t>Income statement: one-click periods, print for the bank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84AD23-7F1B-4F36-A4BD-FF0F1653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43100"/>
            <a:ext cx="3543300" cy="2257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2ED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54932e292464a"/>
          <a:stretch xmlns:a="http://schemas.openxmlformats.org/drawingml/2006/main"/>
        </p:blipFill>
        <p:spPr>
          <a:xfrm xmlns:a="http://schemas.openxmlformats.org/drawingml/2006/main">
            <a:off x="8001000" y="1962150"/>
            <a:ext cx="3505200" cy="22193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F8582-663B-4CB8-8CEB-11941937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76725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86"/>
                </a:solidFill>
              </a:defRPr>
            </a:pPr>
            <a:r>
              <a:rPr sz="975" b="0">
                <a:solidFill>
                  <a:srgbClr val="5F6F86"/>
                </a:solidFill>
              </a:rPr>
              <a:t>Bank reconciliation: tick to zero, CSV auto-match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01FD7-2B76-4079-885F-EFFE53F5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0820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4BE3CC-A599-470C-A2D2-39406CC6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08B0E-FB5F-4B88-AB60-9CBB6069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394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Also in the product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07D9C4-E481-4516-96DB-0A371A23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1042035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Vendor bills and A/P, customer and vendor directories, A/R + A/P aging, balance sheet, cash flow, account registers, job costing, recurring transactions, credit memos and void, customer statement PDFs, quick expense entry, period close, invoice/bill PDFs, dark mode.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9F7878-9BD9-4FA7-9228-29320352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86778A-84D1-4992-9735-8E1F57BD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001814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5270D2-8EAD-42DE-9C08-2719FC42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2A82C2-4468-4808-BC66-3032C5EB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ALREADY SHIPPED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9B542-26B7-43A4-98CE-B0AE5757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The QuickBooks-replacement layer is live in the product.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B0570-C4FD-4591-8E1E-DEDCBBCB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86"/>
                </a:solidFill>
              </a:defRPr>
            </a:pPr>
            <a:r>
              <a:rPr sz="1425" b="0">
                <a:solidFill>
                  <a:srgbClr val="5F6F86"/>
                </a:solidFill>
              </a:rPr>
              <a:t>Everything below is deployed today — rollout work, not a build-from-scratch roadmap.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49C676-8216-4FB4-8BB3-4312B79E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9CF70A-211D-431B-92AF-434B897A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E9765A-34C6-4B08-ABC1-6A1237AE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Account registers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B3DA27-2AC7-4706-9E68-E8D7D4D9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Running-balance history for every account — a checkbook view per ledger line.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DD7751-B6B5-4CAF-80F4-88E5005C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99306-509A-42D4-B3A9-69240F6B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059FAB-4786-4D02-BCD7-8447654F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Report pack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3F497-D0D7-41ED-AE11-802F0145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General Ledger, Journal, and P&amp;L by month, alongside the three statements.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9BCB69-3C97-454D-BFA0-B8D44D5A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AF1B78-37D2-46F4-8458-ED334B19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826E26-58E5-4323-8BE8-7CB4A841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Job costing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D09C05-FC33-416D-8CBC-C35F691F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Per-job profit and margin from invoices, bills, and expenses tagged with the job.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AAA87D-D2DE-4187-AB1B-0D620948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C25C4B-9149-4F9A-AE96-AB96F829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B1EC40-F759-47B6-9C71-92E42F13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Credits &amp; void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1D26EA-51D6-460E-B258-861352DC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Credit memos, vendor credits, and void — every correction an append-only reversal.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36EFC5-2FF5-448A-9346-D44E15EB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3A4C02-18EA-4C55-8C52-23D12414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4C4383-DFEE-4335-92FE-E4759FAB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Customer statements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960AC2-D3C8-4253-8B79-00BEB698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A PDF of a customer’s open invoices with ages and total due, collections-ready.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B266BB-90C4-4E23-9E77-C606AC47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385A67-694A-4F07-A6E3-C5D6BD47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1F53B0-7AFB-46AA-B284-732EB585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Recurring &amp; expenses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5D5E79-8587-4579-8261-A1549D68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Recurring invoices, bills, and journals that never double-post; one-click expenses.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7C6FC9-B5D4-44B3-B9E8-C633C4E9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A9EDDD-6BC7-481D-9307-5AD93AC9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3465363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F61793-E149-42BA-A856-162C34B5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C06E6-73C8-4B55-AE3C-AC1008D3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COMMERCIAL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F6DEC2-9423-4259-BB97-1DCDF90A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One clean foundation build, then an optional close-support lane.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76618-6273-4069-B4F1-D2E034F6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8768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1A540-A161-428B-852E-07B52264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24150"/>
            <a:ext cx="4095750" cy="5334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Blueprint Books Foundation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B3E7D-33F3-45CB-9DD5-68145C5E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4000500" cy="5143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FE0C8"/>
                </a:solidFill>
              </a:defRPr>
            </a:pPr>
            <a:r>
              <a:rPr sz="2850" b="1">
                <a:solidFill>
                  <a:srgbClr val="9FE0C8"/>
                </a:solidFill>
              </a:rPr>
              <a:t>$18,500 fixed fee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E8D56-1CC2-4934-A1C6-57273B42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3905250" cy="628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AF8"/>
                </a:solidFill>
              </a:defRPr>
            </a:pPr>
            <a:r>
              <a:rPr sz="1350" b="0">
                <a:solidFill>
                  <a:srgbClr val="D9EAF8"/>
                </a:solidFill>
              </a:rPr>
              <a:t>50% start / 50% closeout</a:t>
            </a:r>
          </a:p>
          <a:p xmlns:a="http://schemas.openxmlformats.org/drawingml/2006/main">
            <a:pPr algn="l">
              <a:defRPr sz="1350" b="0">
                <a:solidFill>
                  <a:srgbClr val="D9EAF8"/>
                </a:solidFill>
              </a:defRPr>
            </a:pPr>
            <a:r>
              <a:rPr sz="1350" b="0">
                <a:solidFill>
                  <a:srgbClr val="D9EAF8"/>
                </a:solidFill>
              </a:rPr>
              <a:t>4-5 weeks from opening-balance readiness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A853F-D678-4482-A7BB-316553B4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23812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3B6FDC-8D40-4FC1-9A40-336AECEA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7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243526-FCC7-4908-BFB7-CB0907EB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33650"/>
            <a:ext cx="20002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Books Complete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0CBD18-3FC5-4057-AB41-8BC074D9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95600"/>
            <a:ext cx="1981200" cy="9525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$28,000 adds bank reconciliation, cash-flow statement, data migration from current books, and 30-day hypercare.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261170-A4D4-4718-AAE5-5CFF0145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43150"/>
            <a:ext cx="23812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051D35-45EA-4A3A-A194-43902C70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43150"/>
            <a:ext cx="57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B30712-57F1-403F-B527-84B7C778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33650"/>
            <a:ext cx="20002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Books Care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14307-724C-4525-9693-1CDDB325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95600"/>
            <a:ext cx="1981200" cy="9525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Optional monthly lane for month-end review, reconciliation checks, and small accounting changes.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9D0680-2753-4083-9CFC-3005AB5D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43400"/>
            <a:ext cx="50863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A56D9D-ED4F-49E8-A832-AA98CA46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43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7B2A94-B23A-44B8-B1C7-0C2B2EFD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33900"/>
            <a:ext cx="47053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Builds on what is shipped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94F31D-BD8E-4502-98A5-256FE125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95850"/>
            <a:ext cx="46863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The ledger, A/R, A/P, registers, job costing, statements, recurring, bank rec, period close, and invoice/bill/statement PDFs are already built. This phase tailors and rolls them out for Raves.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DEE929-D5B7-46BE-9F5A-2F94F2AE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A10B0B-4E3A-4969-BA9D-D0E6FB18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2508787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511A6F-25D4-4278-875B-C10E3D8C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82BC9F-E7D3-4609-B0D8-89197692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MUTUAL ACTION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44FDFD-A761-4C86-9F68-6710840E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A simple path from decision to first clean month-end.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A96C4-315D-48AC-BF7C-1124492B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8D5FB-4B75-4DD7-A490-1C5AFE44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DFF5F-6652-44A7-89F8-ACA48524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E6B392-CA43-43BB-BE0F-E25565AF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Select package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889570-563C-4419-8F33-FFC37735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Confirm Books Foundation or the expanded Books Complete scope.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40F31-C723-4E2A-9FAC-F495DCB6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D17AEC-D82E-4D62-B851-E557FA92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4C4F21-E7F2-498A-81F1-BFDF5AD4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1C6C55-ED68-48F9-B8F3-2FC3BEF3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0842C9-1646-4E0A-8273-5457432A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Approve SOW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8B8446-9049-4FF2-8DAF-B834CE8F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Name the approval owner and target decision date.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C3FC9E-5860-422D-9003-E8582DE8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C227EE-31B3-4F3B-B176-73EAFAF4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FC2F97-AAD4-4B47-9538-B0539039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A85162-AE80-4F1C-BA7E-CC89C3A4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7D8F75-C0A0-4814-AF37-1CF06208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Confirm inputs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67BCA8-3837-4D71-9C93-536BFC02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Accounting owner, opening balances, chart-of-accounts review, and tax/entity basics.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940A0A-9429-47E2-9B7A-1F6B515E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4145C5-5E25-459A-9273-AF867E9A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44FFA3-78CF-4C23-B896-D71A3CAE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621A37-F7C3-4C9B-B09B-3EB13E04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922ED0-B70F-479A-A7F8-3E74AE8E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55DA48-D761-4FFF-84C1-80FDCE5C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Tailor the books, load opening balances, wire A/R and A/P, and train the team.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5FCE28-6D4A-4425-BE05-8F62E2B9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384C1B-8859-47AF-9974-1D014E85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53963C-ADC8-48C9-ACD5-A9CCE162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3E3F7D-7F62-475C-B5F7-DA5098FE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5CB242-8097-4280-89B4-F63A66F4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First close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84F545-C914-41EC-9AD8-EFCA6B83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Run the first month-end in Blueprint and lock the period.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7D18B1-BC66-45BE-90CC-B077EF16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AF275F-8560-4A54-A615-76FC705A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4107334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B1E1F3-514C-4412-AFD3-9EF504DF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897A32-E0CA-4C7D-904E-E5BD01A0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DA912-7202-48C0-9C4C-164C79E9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5300"/>
            <a:ext cx="1600200" cy="266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RAVES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4BD37B-CDBC-4599-A028-5FCF4A2B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781050"/>
            <a:ext cx="1600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FB9D2"/>
                </a:solidFill>
              </a:defRPr>
            </a:pPr>
            <a:r>
              <a:rPr sz="975" b="0">
                <a:solidFill>
                  <a:srgbClr val="9FB9D2"/>
                </a:solidFill>
              </a:rPr>
              <a:t>Blueprint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D6E9A8-D2CE-4880-A88E-390FE751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6EA"/>
                </a:solidFill>
              </a:defRPr>
            </a:pPr>
            <a:r>
              <a:rPr sz="1050" b="1">
                <a:solidFill>
                  <a:srgbClr val="BFD6EA"/>
                </a:solidFill>
              </a:rPr>
              <a:t>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158D0E-C56A-40CD-91DD-F43FC3E9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Approve Blueprint Books as the next funded phase.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F004A0-9D73-4753-8A44-9EFF8949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FD6EA"/>
                </a:solidFill>
              </a:defRPr>
            </a:pPr>
            <a:r>
              <a:rPr sz="1425" b="0">
                <a:solidFill>
                  <a:srgbClr val="BFD6EA"/>
                </a:solidFill>
              </a:rPr>
              <a:t>Leave with one owner, one date, and the opening-balance source.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192DD9-B4DA-44F1-9411-CA40DE65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05100"/>
            <a:ext cx="104775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B"/>
          </a:solidFill>
          <a:ln xmlns:a="http://schemas.openxmlformats.org/drawingml/2006/main" w="0">
            <a:solidFill>
              <a:srgbClr val="123A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5835D-A238-4BB2-B322-9CA0D555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90850"/>
            <a:ext cx="1524000" cy="3429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9FE0C8"/>
                </a:solidFill>
              </a:defRPr>
            </a:pPr>
            <a:r>
              <a:rPr sz="1500" b="1">
                <a:solidFill>
                  <a:srgbClr val="9FE0C8"/>
                </a:solidFill>
              </a:rPr>
              <a:t>Ask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F5549B-4CF3-4729-8B99-66319174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90900"/>
            <a:ext cx="8763000" cy="5524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Approve the Books Foundation build at $18,500 fixed fee.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F0929E-24C8-4C4B-A8B9-3BF925AF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38600"/>
            <a:ext cx="90487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AF8"/>
                </a:solidFill>
              </a:defRPr>
            </a:pPr>
            <a:r>
              <a:rPr sz="1350" b="0">
                <a:solidFill>
                  <a:srgbClr val="D9EAF8"/>
                </a:solidFill>
              </a:rPr>
              <a:t>Then confirm the approver, target decision date, the accounting owner, and where opening balances and the chart of accounts come from.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8129E1-2C39-48B0-863E-F4C139A5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67300"/>
            <a:ext cx="2667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68BC99-3619-409C-A742-38F3343E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67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ADA367-9B15-4486-9DEC-1D656715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57800"/>
            <a:ext cx="22860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Next artifact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D28119-A5BF-4B71-A1DF-50CD5EAA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619750"/>
            <a:ext cx="226695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One-page Books SOW and opening-balance checklist.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CEEF06-375A-4B17-A2A5-891DEC32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67300"/>
            <a:ext cx="2667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9523FA-8172-4147-9FE2-C80A63CD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67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FBF23F-6DD1-46A3-846D-98CFD4F7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257800"/>
            <a:ext cx="22860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Next meeting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1D81EB-3569-42B7-B7A8-05555984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619750"/>
            <a:ext cx="226695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Kickoff once opening balances are confirmed.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B6CCAF-E751-49B7-BF3E-7D6A8561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2667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93CEF3-FF42-4315-B0AB-99840961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DE8B06-775A-4AEB-B0F8-0556ADC2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257800"/>
            <a:ext cx="22860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Next offer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2712A9-3230-41B9-80CE-17C7FC98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619750"/>
            <a:ext cx="226695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Books Care after go-live for monthly close support.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1D9A24-3C98-47E8-B697-71193C3F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Blueprint Books for Raves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388290-D4FE-456A-AFD6-F3C08BCE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88416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2026-06-10T02:09:57.0700000Z</dcterms:created>
  <dcterms:modified xsi:type="dcterms:W3CDTF">2026-06-10T02:09:57.0700000Z</dcterms:modified>
</coreProperties>
</file>
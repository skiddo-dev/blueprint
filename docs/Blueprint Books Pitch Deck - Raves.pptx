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3e25af7a5c4e41" /><Relationship Type="http://schemas.openxmlformats.org/officeDocument/2006/relationships/extended-properties" Target="/docProps/app.xml" Id="R473b725e9ed14504" /><Relationship Type="http://schemas.openxmlformats.org/officeDocument/2006/relationships/officeDocument" Target="/ppt/presentation.xml" Id="R08734c4d092246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4e05ef57b24e9c"/>
  </p:sldMasterIdLst>
  <p:notesMasterIdLst>
    <p:notesMasterId xmlns:r="http://schemas.openxmlformats.org/officeDocument/2006/relationships" r:id="R317b44486bf04c72"/>
  </p:notesMasterIdLst>
  <p:sldIdLst>
    <p:sldId xmlns:r="http://schemas.openxmlformats.org/officeDocument/2006/relationships" id="256" r:id="Raaedf9bd2e694423"/>
    <p:sldId xmlns:r="http://schemas.openxmlformats.org/officeDocument/2006/relationships" id="257" r:id="R9d1d038ce5844c80"/>
    <p:sldId xmlns:r="http://schemas.openxmlformats.org/officeDocument/2006/relationships" id="258" r:id="Rc2733e4a7d7949a5"/>
    <p:sldId xmlns:r="http://schemas.openxmlformats.org/officeDocument/2006/relationships" id="259" r:id="R0f1c4cef95ea4960"/>
    <p:sldId xmlns:r="http://schemas.openxmlformats.org/officeDocument/2006/relationships" id="260" r:id="R346ef0355caa42e1"/>
    <p:sldId xmlns:r="http://schemas.openxmlformats.org/officeDocument/2006/relationships" id="261" r:id="R284466f0c2364cc7"/>
    <p:sldId xmlns:r="http://schemas.openxmlformats.org/officeDocument/2006/relationships" id="262" r:id="R46c88fd8ff7b4916"/>
    <p:sldId xmlns:r="http://schemas.openxmlformats.org/officeDocument/2006/relationships" id="263" r:id="R2fa291400b4f4e3c"/>
    <p:sldId xmlns:r="http://schemas.openxmlformats.org/officeDocument/2006/relationships" id="264" r:id="R69943f9468484923"/>
    <p:sldId xmlns:r="http://schemas.openxmlformats.org/officeDocument/2006/relationships" id="265" r:id="R878ed77bdc024aa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d6b4d6591e4142" /><Relationship Type="http://schemas.openxmlformats.org/officeDocument/2006/relationships/slideMaster" Target="/ppt/slideMasters/slideMaster1.xml" Id="Rf14e05ef57b24e9c" /><Relationship Type="http://schemas.openxmlformats.org/officeDocument/2006/relationships/notesMaster" Target="/ppt/notesMasters/notesMaster1.xml" Id="R317b44486bf04c72" /><Relationship Type="http://schemas.openxmlformats.org/officeDocument/2006/relationships/presProps" Target="/ppt/presProps.xml" Id="R3dfc3a8b6e43402c" /><Relationship Type="http://schemas.openxmlformats.org/officeDocument/2006/relationships/viewProps" Target="/ppt/viewProps.xml" Id="R7e91b5f26cdd49e5" /><Relationship Type="http://schemas.openxmlformats.org/officeDocument/2006/relationships/tableStyles" Target="/ppt/tableStyles.xml" Id="R3d9a49737deb4a91" /><Relationship Type="http://schemas.openxmlformats.org/officeDocument/2006/relationships/slide" Target="/ppt/slides/slide1.xml" Id="Raaedf9bd2e694423" /><Relationship Type="http://schemas.openxmlformats.org/officeDocument/2006/relationships/slide" Target="/ppt/slides/slide2.xml" Id="R9d1d038ce5844c80" /><Relationship Type="http://schemas.openxmlformats.org/officeDocument/2006/relationships/slide" Target="/ppt/slides/slide3.xml" Id="Rc2733e4a7d7949a5" /><Relationship Type="http://schemas.openxmlformats.org/officeDocument/2006/relationships/slide" Target="/ppt/slides/slide4.xml" Id="R0f1c4cef95ea4960" /><Relationship Type="http://schemas.openxmlformats.org/officeDocument/2006/relationships/slide" Target="/ppt/slides/slide5.xml" Id="R346ef0355caa42e1" /><Relationship Type="http://schemas.openxmlformats.org/officeDocument/2006/relationships/slide" Target="/ppt/slides/slide6.xml" Id="R284466f0c2364cc7" /><Relationship Type="http://schemas.openxmlformats.org/officeDocument/2006/relationships/slide" Target="/ppt/slides/slide7.xml" Id="R46c88fd8ff7b4916" /><Relationship Type="http://schemas.openxmlformats.org/officeDocument/2006/relationships/slide" Target="/ppt/slides/slide8.xml" Id="R2fa291400b4f4e3c" /><Relationship Type="http://schemas.openxmlformats.org/officeDocument/2006/relationships/slide" Target="/ppt/slides/slide9.xml" Id="R69943f9468484923" /><Relationship Type="http://schemas.openxmlformats.org/officeDocument/2006/relationships/slide" Target="/ppt/slides/slide10.xml" Id="R878ed77bdc024a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c0e3607e7848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0bce6bcd1b4ddc" /><Relationship Type="http://schemas.openxmlformats.org/officeDocument/2006/relationships/notesMaster" Target="/ppt/notesMasters/notesMaster1.xml" Id="R59ef595f729e4d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a6b38bca0141a5" /><Relationship Type="http://schemas.openxmlformats.org/officeDocument/2006/relationships/notesMaster" Target="/ppt/notesMasters/notesMaster1.xml" Id="R38a7a49a546842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b5958819d34a6b" /><Relationship Type="http://schemas.openxmlformats.org/officeDocument/2006/relationships/notesMaster" Target="/ppt/notesMasters/notesMaster1.xml" Id="Rb9fcf5b608f64b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f07f9aec764650" /><Relationship Type="http://schemas.openxmlformats.org/officeDocument/2006/relationships/notesMaster" Target="/ppt/notesMasters/notesMaster1.xml" Id="R71997a433bc145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cb33fc5f354c43" /><Relationship Type="http://schemas.openxmlformats.org/officeDocument/2006/relationships/notesMaster" Target="/ppt/notesMasters/notesMaster1.xml" Id="R407e0020f61742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c4ccab98ff4a2b" /><Relationship Type="http://schemas.openxmlformats.org/officeDocument/2006/relationships/notesMaster" Target="/ppt/notesMasters/notesMaster1.xml" Id="R49720e7d43c743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e26a81a10844fd" /><Relationship Type="http://schemas.openxmlformats.org/officeDocument/2006/relationships/notesMaster" Target="/ppt/notesMasters/notesMaster1.xml" Id="Ra0cd7f7be9014f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8e4edc0ace4f82" /><Relationship Type="http://schemas.openxmlformats.org/officeDocument/2006/relationships/notesMaster" Target="/ppt/notesMasters/notesMaster1.xml" Id="Rf7f01061bae8407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3be55ca6a84153" /><Relationship Type="http://schemas.openxmlformats.org/officeDocument/2006/relationships/notesMaster" Target="/ppt/notesMasters/notesMaster1.xml" Id="R8aa2a033c8594e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ab3a4ad25441d3" /><Relationship Type="http://schemas.openxmlformats.org/officeDocument/2006/relationships/notesMaster" Target="/ppt/notesMasters/notesMaster1.xml" Id="R08e3b3d406b54a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59ee024e6347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3276609f8746ce" /><Relationship Type="http://schemas.openxmlformats.org/officeDocument/2006/relationships/slideLayout" Target="/ppt/slideLayouts/slideLayout1.xml" Id="R54f0412992c249d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f0412992c249d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f3f786ee146f8" /><Relationship Type="http://schemas.openxmlformats.org/officeDocument/2006/relationships/notesSlide" Target="/ppt/notesSlides/notesSlide1.xml" Id="R46275bea62084b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a7084e09d418d" /><Relationship Type="http://schemas.openxmlformats.org/officeDocument/2006/relationships/notesSlide" Target="/ppt/notesSlides/notesSlide2.xml" Id="R993e66dd842142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126a00e77b4dd5" /><Relationship Type="http://schemas.openxmlformats.org/officeDocument/2006/relationships/notesSlide" Target="/ppt/notesSlides/notesSlide3.xml" Id="R1182f3d420bc4b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f5f6ec22b4b89" /><Relationship Type="http://schemas.openxmlformats.org/officeDocument/2006/relationships/notesSlide" Target="/ppt/notesSlides/notesSlide4.xml" Id="R5a6046ee2d254a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0759eb34047ee" /><Relationship Type="http://schemas.openxmlformats.org/officeDocument/2006/relationships/notesSlide" Target="/ppt/notesSlides/notesSlide5.xml" Id="R6c1600e6618f4e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95fd2c2a7426c" /><Relationship Type="http://schemas.openxmlformats.org/officeDocument/2006/relationships/image" Target="/ppt/media/image.png" Id="Re1f126493bdb4c12" /><Relationship Type="http://schemas.openxmlformats.org/officeDocument/2006/relationships/notesSlide" Target="/ppt/notesSlides/notesSlide6.xml" Id="Re00e060a54fd4ac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1daa2f6ffa4002" /><Relationship Type="http://schemas.openxmlformats.org/officeDocument/2006/relationships/image" Target="/ppt/media/image2.png" Id="R37031a7b70e64830" /><Relationship Type="http://schemas.openxmlformats.org/officeDocument/2006/relationships/image" Target="/ppt/media/image3.png" Id="Racd619ffdbcf42c4" /><Relationship Type="http://schemas.openxmlformats.org/officeDocument/2006/relationships/image" Target="/ppt/media/image4.png" Id="R583e19868e5449bb" /><Relationship Type="http://schemas.openxmlformats.org/officeDocument/2006/relationships/notesSlide" Target="/ppt/notesSlides/notesSlide7.xml" Id="R80333251b0104d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6ce42db3846e1" /><Relationship Type="http://schemas.openxmlformats.org/officeDocument/2006/relationships/notesSlide" Target="/ppt/notesSlides/notesSlide8.xml" Id="R966bb71883b54d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89005b22f4eec" /><Relationship Type="http://schemas.openxmlformats.org/officeDocument/2006/relationships/notesSlide" Target="/ppt/notesSlides/notesSlide9.xml" Id="R3d46f79c68c24b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ff5073d54949b3" /><Relationship Type="http://schemas.openxmlformats.org/officeDocument/2006/relationships/notesSlide" Target="/ppt/notesSlides/notesSlide10.xml" Id="R44a552498ac44a3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9F8291-6C4D-4F42-8DFA-A7575E0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3F3B9B-4EC5-4FC3-9162-1C7AB97C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5A4B9-3FE2-43E5-A2DC-C3C05D25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0A291-98B0-4B15-9E16-952EFE1B3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92E29E-2922-4662-BBD6-7A9203DD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334250" cy="666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CCE5"/>
                </a:solidFill>
              </a:defRPr>
            </a:pPr>
            <a:r>
              <a:rPr sz="1350" b="1">
                <a:solidFill>
                  <a:srgbClr val="A7CCE5"/>
                </a:solidFill>
              </a:rPr>
              <a:t>Blueprint Next Phase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F0F60-DCCF-40F0-BD75-C948D5CE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382000" cy="8572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Blueprint Books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76F3B-7285-43CC-A1E4-64A543044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38400"/>
            <a:ext cx="83820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FE0C8"/>
                </a:solidFill>
              </a:defRPr>
            </a:pPr>
            <a:r>
              <a:rPr sz="1950" b="1">
                <a:solidFill>
                  <a:srgbClr val="9FE0C8"/>
                </a:solidFill>
              </a:rPr>
              <a:t>Construction financial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964169-3356-4BA4-AC30-D72912C7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810500" cy="9144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9EAF8"/>
                </a:solidFill>
              </a:defRPr>
            </a:pPr>
            <a:r>
              <a:rPr sz="1725" b="0">
                <a:solidFill>
                  <a:srgbClr val="D9EAF8"/>
                </a:solidFill>
              </a:rPr>
              <a:t>Run job-costed books inside the platform Raves already uses, instead of spreadsheets and disconnected accounting.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3E2E7-5A0C-4C2D-B0E8-A5F3A8B5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7EB3"/>
          </a:solidFill>
          <a:ln xmlns:a="http://schemas.openxmlformats.org/drawingml/2006/main" w="0">
            <a:solidFill>
              <a:srgbClr val="2A7EB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59EF2C-5304-4CDF-8FE2-B664732E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43450"/>
            <a:ext cx="6858000" cy="571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Decision ask: approve the Books Foundation build and confirm the accounting owner and opening balances.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0AC3D-87E9-472B-8B1F-0FE7CA4A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5905500" cy="514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9FB9D2"/>
                </a:solidFill>
              </a:defRPr>
            </a:pPr>
            <a:r>
              <a:rPr sz="1125" b="0">
                <a:solidFill>
                  <a:srgbClr val="9FB9D2"/>
                </a:solidFill>
              </a:rPr>
              <a:t>Prepared for Raves Inc. / Raves Construction</a:t>
            </a:r>
          </a:p>
          <a:p xmlns:a="http://schemas.openxmlformats.org/drawingml/2006/main">
            <a:pPr algn="l">
              <a:defRPr sz="1125" b="0">
                <a:solidFill>
                  <a:srgbClr val="9FB9D2"/>
                </a:solidFill>
              </a:defRPr>
            </a:pPr>
            <a:r>
              <a:rPr sz="1125" b="0">
                <a:solidFill>
                  <a:srgbClr val="9FB9D2"/>
                </a:solidFill>
              </a:rPr>
              <a:t>June 9,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253BF-89CA-4CD5-A318-B99355CB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7BDD24-D21B-4D47-937B-5402193C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3877039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38E926-9373-4B64-A339-A4885B080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4D54BD-046E-4BEA-9271-FA7166B6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WHY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AB817-5E38-4608-8F52-4FAC01D3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The money already flows through Blueprint. The books do not yet.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90A54A-05C7-4E72-8990-27BE19E5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86"/>
                </a:solidFill>
              </a:defRPr>
            </a:pPr>
            <a:r>
              <a:rPr sz="1425" b="0">
                <a:solidFill>
                  <a:srgbClr val="5F6F86"/>
                </a:solidFill>
              </a:rPr>
              <a:t>Quotes, vendors, and attachments live in Blueprint, but profit, A/R, and A/P still live in spreadsheets.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38B968-DF13-42FE-A2EC-A8CAC096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55D82E-14F7-4430-A182-4EACEED2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60EC5-5B1B-464F-B4F4-6460B8C7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$9.3M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87930-1306-4113-ACF6-34D88928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open value in the loaded quote 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36AD03-DA30-4E70-9E15-3B1506DE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14DC3-B4B8-4D0E-8844-F329266BA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1F0E7-CFA1-48CE-98BA-F267443C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536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6AF39-4791-4FDF-B601-94F49908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loaded quote-log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454C4D-E123-4CA6-AE54-D4B8BD5C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FF563F-8B7C-46DD-82FD-5C4E92D8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C133EE-416E-42A4-9C86-BDD9CC12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48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BF3DD7-564F-4E1E-8384-27DFB20F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task records driving job activity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A00BC3-4EE1-4828-998A-1C17DE9D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955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EC290D-34D2-4F30-B239-E54344FE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955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3475C0-4951-4683-BDB7-5932C3D3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860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23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13B8D9-D525-486F-A24C-333A3CC6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242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email attachments (invoices, bills, POs)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95BF01-89AD-427A-BF69-4A7C0A0D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7462EA-0A45-4A77-B518-4E6B9BCB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CDA4B-164D-4320-B8C2-D48C2C1E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8 / 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3B35AA-FDC8-4401-9881-0F567BBC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provisioned users / active last 7 days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F5206C-660C-4E24-9311-2A024515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4E8A4F-5386-4C56-A170-62ADFA49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545"/>
          </a:solidFill>
          <a:ln xmlns:a="http://schemas.openxmlformats.org/drawingml/2006/main" w="0">
            <a:solidFill>
              <a:srgbClr val="B5454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0B3BD5-06E8-4C27-A2A8-74977161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A6677E-BDA3-459A-9929-75117A6A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of that visible as job-costed books today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893E77-D0EF-49E1-915F-1EC67FC7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33850"/>
            <a:ext cx="24003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42A4C4-3961-413F-AEBC-780E1C02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33850"/>
            <a:ext cx="66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A6B12B-30E7-4A98-8126-448100380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19431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033"/>
                </a:solidFill>
              </a:defRPr>
            </a:pPr>
            <a:r>
              <a:rPr sz="2250" b="1">
                <a:solidFill>
                  <a:srgbClr val="172033"/>
                </a:solidFill>
              </a:rPr>
              <a:t>27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346287-FDF7-4872-9E00-BA8142B6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1943100" cy="3810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prospect records feeding future revenue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34D3D1-34E9-4B8F-8A67-12F9390A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8DB04D-A4E8-45D8-8D92-9F13A471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1963049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0884CC-74D7-4F19-A91D-B90CDD9A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B9CDE6-833D-4CC5-83F4-79446360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SYSTEM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2A254-926B-4C7F-9504-DAAEE980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Turn work Raves already tracks into double-entry books.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1BB061-59A3-4192-B867-8382157E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BA5DF-F5F2-4737-BB2C-1098E294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61976-5E32-4201-8C54-87AF29EC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What Blueprint already holds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972587-5F3F-48FE-8C8F-728F870F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50CE3-1EDE-4407-A14B-89C98150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Won quotes and contract value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91C8E3-DDE9-4ACE-9A57-541E9093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BEF64-B675-48DD-A99B-7F8545F8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Vendor bills and POs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BC36F-4843-4DB6-95F3-0AF0E204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13408D-8A1A-419A-9B84-54B65584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Customer and vendor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8B5B44-86C0-4B52-B27B-C5FC7629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AE7F5-8645-4C3A-8AE8-BC7A6554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Job activity and attachments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03D7A-FCD4-4D50-90AB-73B0F4F2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ED3258-D290-4F8D-95CD-AE3A0D91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B77A1-4834-4308-A8E4-4EADECD3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Blueprint Books ledger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ACC19C-3897-4B39-A0D1-74CBE6D3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AC2BEB-04CC-41CC-A37C-526EEB58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Job-costed chart of accounts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014D61-1979-42D8-B5C8-BFDAAF81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AF72FC-290A-4F7C-8493-313A6123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Invoices, payments, A/R aging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FEB58C-FFDC-4F39-875A-DD10974E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127438-0E20-4083-BA93-C678950A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Bills, payments, A/P aging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BD7957-5470-4676-A27E-CB3D1F1C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6F7F71-C9C5-472A-9989-66AA31D2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Journal, trial balance, close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C377F0-D76B-4CF5-B5F7-41A270BD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5303FE-BC73-406D-B605-354B75A7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9075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D9B710-C5BF-4223-A922-16CD4539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57450"/>
            <a:ext cx="23622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2033"/>
                </a:solidFill>
              </a:defRPr>
            </a:pPr>
            <a:r>
              <a:rPr sz="1500" b="1">
                <a:solidFill>
                  <a:srgbClr val="172033"/>
                </a:solidFill>
              </a:rPr>
              <a:t>What Raves leadership sees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46F591-2BB8-4206-BDD4-AC4FF490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67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4DE1D9-B2D6-4382-91FC-5079BF7C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Profit per job, not guesses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115A44-57D2-4A9D-B4A4-F406E9CF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24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02AC95-D41E-47AD-8673-62EDBEA2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480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Who owes us and what we owe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1B059D-BFE6-4542-AE9F-9AC1B1E0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981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AE16E1-8DCE-4BE6-933D-EF6A6059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9052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Tax-ready P&amp;L and balance sheet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8E6A91-3508-4135-B12A-F2783682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38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DF4405-B528-486B-B39B-B787D78C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362450"/>
            <a:ext cx="2133600" cy="4000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</a:defRPr>
            </a:pPr>
            <a:r>
              <a:rPr sz="1350" b="0">
                <a:solidFill>
                  <a:srgbClr val="172033"/>
                </a:solidFill>
              </a:rPr>
              <a:t>Clean, locked month-end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CE6CBC-A1E5-4E25-A920-63DE4E1B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276600"/>
            <a:ext cx="552450" cy="4381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D7F5F"/>
                </a:solidFill>
              </a:defRPr>
            </a:pPr>
            <a:r>
              <a:rPr sz="2550" b="1">
                <a:solidFill>
                  <a:srgbClr val="1D7F5F"/>
                </a:solidFill>
              </a:rPr>
              <a:t>-&gt;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B177AF-5190-4F24-9809-19957B73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552450" cy="4381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5DA0"/>
                </a:solidFill>
              </a:defRPr>
            </a:pPr>
            <a:r>
              <a:rPr sz="25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E55854-7B33-4C2E-B635-FF892119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858B98-EB1A-4891-9FBF-5AAB9A40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6848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EEFF3F-3B4F-4B6E-98BC-E2702A09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B19494-10B4-4F89-AE91-F094BD5B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6EA"/>
                </a:solidFill>
              </a:defRPr>
            </a:pPr>
            <a:r>
              <a:rPr sz="1050" b="1">
                <a:solidFill>
                  <a:srgbClr val="BFD6EA"/>
                </a:solidFill>
              </a:rPr>
              <a:t>THE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9FDC5-9F1F-4877-A369-16CFE1B8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The financial picture is stitched together by hand.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18F54A-9265-43FC-9E44-FFDA801D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FD6EA"/>
                </a:solidFill>
              </a:defRPr>
            </a:pPr>
            <a:r>
              <a:rPr sz="1425" b="0">
                <a:solidFill>
                  <a:srgbClr val="BFD6EA"/>
                </a:solidFill>
              </a:rPr>
              <a:t>The risk is not a lack of revenue. It is that revenue, cost, and cash live in separate places, so profit is a guess until the accountant catches up.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2BCA9-C6CF-4350-BB21-6A82889A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FD43B9-29E6-43F8-864A-8F2FDEDF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A90F4-4BB8-495B-8A17-652E4FF62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D1F52D-97FB-4897-A2A8-672F6B48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545"/>
          </a:solidFill>
          <a:ln xmlns:a="http://schemas.openxmlformats.org/drawingml/2006/main" w="0">
            <a:solidFill>
              <a:srgbClr val="B545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42882E-4F00-4650-9BF7-7579ED49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Job profit is a guess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744A8-3EA9-4C12-8658-2FB4A82A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Costs sit in spreadsheets and email, so margin per job is only known late, if at all.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252041-F894-4093-B3A0-6256FA05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523310-72C4-4290-BFA2-13F98D56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55F0A9-B008-42A7-94D4-BFEAE60F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A/R slips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207B53-FEE1-4CB2-A4E3-CD82D104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Without aging in the tool, slow-paying customers are noticed by feel, not by report.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D83149-F2F9-406C-BB8E-09AD1141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924BB8-9A50-4E98-A9AC-D6937644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AE9770-38DD-479C-9E77-FD520CB8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Retainage by hand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7DBB5-4619-49FE-AD5E-396BE161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Retainage receivable and payable on construction jobs is tracked manually and easy to lose.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261665-DEF7-466F-9C08-565CB6D0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24003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AD0B22-7CEE-49B4-8C7C-D5834A14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571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027DCE-B3ED-49AD-9DDC-BC266512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48000"/>
            <a:ext cx="2019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Month-end is manual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059EC8-214E-428C-9D46-B89E7FEE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09950"/>
            <a:ext cx="2000250" cy="1009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Closing the books means re-keying Blueprint data into separate accounting software.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F7498D-DB44-41AE-941C-87D2CA1F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7810500" cy="4191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Recommended next funded phase: Blueprint Books Foundation.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3CC3A6-AB7E-40E1-99C5-29C2C275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2671B8-89EB-407B-9951-3D5B176D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1032488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18075D-02F8-4380-B40E-CF9FF4D9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62EBE4-C4ED-4D7D-86B4-6336C39E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WHAT IT DELIVERS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890C85-28FC-41C6-B225-687286DD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A real set of construction books, already built into Blueprint.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CA1BC-BD5A-4714-A8CA-7394D60C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AFB7D-8184-4003-9AC0-16BAE3F9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EC5CA-DF8C-4A5F-BDE3-4863F035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Job-costed accounts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85D634-26D9-482A-BF74-A11E6E06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Construction chart of accounts: retainage, WIP, change orders, and job-cost categories.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D5BE23-E4F4-42C3-8EF4-31087749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AA0E6-CA3E-49C5-9813-B8835794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40769-CB3E-4FD5-B6A6-C9AE493A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Invoices &amp; A/R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BB9251-00D2-45D0-B5AC-4EA1C396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Invoice customers from won quotes, record payments, and watch A/R aging buckets.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23BFF-6B03-47C7-9018-F7CDAB50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D03AF1-9D7B-4B2C-8EA8-B14EA2B7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622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5945A9-E59B-4523-8E13-6408439B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Bills &amp; A/P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C1ED65-D1BB-455E-984F-C6F14838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146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Enter vendor bills, pay them, and watch what Raves owes with A/P aging.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76FE09-5B35-4B4A-BF19-6C1654B3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2399F8-7B0D-4121-A5B8-F69B6914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4EFC3E-F498-49C6-9BD5-58A2FCE2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Ledger &amp; trial 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8AC107-3146-4B99-A582-2CD030B5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Double-entry journal and a live trial balance that always ties out to the penny.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FEA6E-6CA4-4243-BF1A-EB213E90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4FC478-B722-48E8-8B66-4E209F51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0DA44A-F0B6-42D8-A0C9-28088C5C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Statements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345C2A-2971-40AB-AF38-8127F5C5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Income statement and balance sheet on demand, no re-keying into other software.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25C1B-8503-4A08-9AE9-856B3EC7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31623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58FD8C-055A-4BAD-B5A6-842CA633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05300"/>
            <a:ext cx="571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80C319-8635-46C5-A426-60DDE4EE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95800"/>
            <a:ext cx="27813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Close &amp; PDFs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33ECCF-0DCB-491B-820D-BD9BC5F7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57750"/>
            <a:ext cx="276225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Lock a period when it is final, and send branded invoice and bill PDFs.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F3F145-494F-468B-B8E2-DFA40120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259483-FCDE-428A-9C0C-BC8FE097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4255338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9FE15F-1E35-43F8-A43D-7CEA40CE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1958BC-8D5A-4F60-A839-27E6E86A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68961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2ED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f126493bdb4c12"/>
          <a:stretch xmlns:a="http://schemas.openxmlformats.org/drawingml/2006/main"/>
        </p:blipFill>
        <p:spPr>
          <a:xfrm xmlns:a="http://schemas.openxmlformats.org/drawingml/2006/main">
            <a:off x="685800" y="1943100"/>
            <a:ext cx="6858000" cy="43434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B6046-5B41-4BDB-B682-613298D7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PRODUCT WALKTHROUGH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73E7D5-650C-4392-98CA-150BAA06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Already built — this is the live product, not a mockup.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516E7-1133-4325-93AD-B3C02AAA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86"/>
                </a:solidFill>
              </a:defRPr>
            </a:pPr>
            <a:r>
              <a:rPr sz="1425" b="0">
                <a:solidFill>
                  <a:srgbClr val="5F6F86"/>
                </a:solidFill>
              </a:rPr>
              <a:t>Screenshots from the deployed module with demo books loaded; every figure ties out.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E2C49-0202-4A8B-88D5-05929B6E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3314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36093-24C5-450C-8032-CA978CAA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B1E862-094D-41E7-8EC4-9326F252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33600"/>
            <a:ext cx="29337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Money at a glance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17C03-2771-4B5F-8884-97E65A0AB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95550"/>
            <a:ext cx="29146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Cash, A/R, A/P, and profit — each with month-over-month direction.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AFFA96-319D-4149-9017-9198CFB1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314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2D5784-0AB1-4351-87B9-FDB792687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41BA1-FECE-4496-A3B2-4523C008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29000"/>
            <a:ext cx="29337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Trend, not guesswork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A8DBC8-8455-4ED3-9E02-5FB4078B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90950"/>
            <a:ext cx="29146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Six months of revenue vs expenses, with net income per month.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AECF66-BD09-4042-9EAF-B887ABE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33900"/>
            <a:ext cx="3314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90044E-B82B-46D4-B29C-31E9D986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339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3183F1-C7DD-4890-9B82-258D0A2E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724400"/>
            <a:ext cx="29337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Urgency built 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96C5FB-A5B6-431A-A9DE-1671E1EC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086350"/>
            <a:ext cx="29146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Overdue invoices and bills due this week surface themselves.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9FE730-E0CF-4273-8578-D53F85EE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AA797C-2AFE-4473-9449-48425B32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0225845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B35657-09DA-49D2-95C2-ACEB8BC7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4B8A21-3BF4-4EE4-8432-88D8345C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PRODUCT WALKTHROUGH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2E31AC-04C8-4BC8-BA1A-B0CB9B6B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From invoice to clean statements.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9E10B-A199-4105-BC31-782A47DD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3543300" cy="2257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2ED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31a7b70e64830"/>
          <a:stretch xmlns:a="http://schemas.openxmlformats.org/drawingml/2006/main"/>
        </p:blipFill>
        <p:spPr>
          <a:xfrm xmlns:a="http://schemas.openxmlformats.org/drawingml/2006/main">
            <a:off x="685800" y="1962150"/>
            <a:ext cx="3505200" cy="22193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6703D0-6A0C-47BF-AFA9-B3C768DA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6725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86"/>
                </a:solidFill>
              </a:defRPr>
            </a:pPr>
            <a:r>
              <a:rPr sz="975" b="0">
                <a:solidFill>
                  <a:srgbClr val="5F6F86"/>
                </a:solidFill>
              </a:rPr>
              <a:t>Invoices: status filters, overdue flags, payment progress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3233FE-2506-4D39-8C69-7B7E61C2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3543300" cy="2257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2ED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d619ffdbcf42c4"/>
          <a:stretch xmlns:a="http://schemas.openxmlformats.org/drawingml/2006/main"/>
        </p:blipFill>
        <p:spPr>
          <a:xfrm xmlns:a="http://schemas.openxmlformats.org/drawingml/2006/main">
            <a:off x="4343400" y="1962150"/>
            <a:ext cx="3505200" cy="22193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9ED447-C11A-49FE-AFFE-12501469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76725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86"/>
                </a:solidFill>
              </a:defRPr>
            </a:pPr>
            <a:r>
              <a:rPr sz="975" b="0">
                <a:solidFill>
                  <a:srgbClr val="5F6F86"/>
                </a:solidFill>
              </a:rPr>
              <a:t>Income statement: one-click periods, print for the bank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51C620-9618-4605-925B-DD2A56FC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43100"/>
            <a:ext cx="3543300" cy="2257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2ED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e19868e5449bb"/>
          <a:stretch xmlns:a="http://schemas.openxmlformats.org/drawingml/2006/main"/>
        </p:blipFill>
        <p:spPr>
          <a:xfrm xmlns:a="http://schemas.openxmlformats.org/drawingml/2006/main">
            <a:off x="8001000" y="1962150"/>
            <a:ext cx="3505200" cy="221932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DC34C4-DF4B-4D4C-8281-9992E4A4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76725"/>
            <a:ext cx="3695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86"/>
                </a:solidFill>
              </a:defRPr>
            </a:pPr>
            <a:r>
              <a:rPr sz="975" b="0">
                <a:solidFill>
                  <a:srgbClr val="5F6F86"/>
                </a:solidFill>
              </a:rPr>
              <a:t>Bank reconciliation: tick to zero, CSV auto-match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4DA3D8-7C14-4D3D-98EE-50114F42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2F1090-3535-4A05-83FF-F05FE3D0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B88FD0-E55B-4072-ACB2-5E8DDBA3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104394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Also in the product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D89E78-6C89-4F1F-B73F-FD2A7EA2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1042035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Vendor bills and A/P, customer and vendor directories, A/R + A/P aging, balance sheet, cash flow, journal and trial balance, period close, invoice/bill PDFs, dark mode.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17EB6-D532-49EA-93C5-E75AD9A3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2CDA1-BD2E-4596-8E99-AD26C420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087166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62BB7A-2950-4834-995B-81DA4F5F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EF30BC-6262-4C66-BBBA-549DA1F7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COMMERCIAL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FFBD0-9458-4533-8EBB-2C587166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One clean foundation build, then an optional close-support lane.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00793-D948-4B7F-847E-B03ABD02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8768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8046A-E3B9-4E36-97F0-650D90A6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24150"/>
            <a:ext cx="4095750" cy="5334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Blueprint Books Foundation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A084E2-8B3D-49F8-A856-47709CC3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900"/>
            <a:ext cx="4000500" cy="514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9FE0C8"/>
                </a:solidFill>
              </a:defRPr>
            </a:pPr>
            <a:r>
              <a:rPr sz="2850" b="1">
                <a:solidFill>
                  <a:srgbClr val="9FE0C8"/>
                </a:solidFill>
              </a:rPr>
              <a:t>$18,500 fixed fee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C96C7-3844-4FE2-A69C-24394AEA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3905250" cy="6286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50% start / 50% closeout</a:t>
            </a:r>
          </a:p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4-5 weeks from opening-balance readiness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5CE544-00C7-4E2A-B5FB-9DD8E957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2381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2CA8DB-225E-43BB-84AD-E1599F2C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7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1C56B5-4B89-45D7-B09A-77D0C5A0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3650"/>
            <a:ext cx="20002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Books Complete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45CBEC-168D-40B4-B42E-9F839B2B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95600"/>
            <a:ext cx="1981200" cy="952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$28,000 adds bank reconciliation, cash-flow statement, data migration from current books, and 30-day hypercare.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90BCDB-6464-4B82-AE39-5AEE4265E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2381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4E665-28C2-4F01-8547-4CF042D3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57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F9D4AE-D08C-40C3-83F2-356DB3E6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533650"/>
            <a:ext cx="20002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Books Care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6733A-EC19-4083-9ABA-705C2728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95600"/>
            <a:ext cx="1981200" cy="952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Optional monthly lane for month-end review, reconciliation checks, and small accounting changes.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8E898-C0E7-4EFB-9D89-6D6905DFD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50863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460619-F5FE-4A5A-8E2F-4A865EBD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43400"/>
            <a:ext cx="57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DDC60E-270D-4213-8272-41A7E780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33900"/>
            <a:ext cx="470535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Builds on what is shipped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9BF877-1333-44F2-8DF6-B8EA6342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95850"/>
            <a:ext cx="46863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The ledger, A/R, A/P, statements, period close, and invoice/bill PDFs are already built. This phase tailors and rolls them out for Raves.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3FB585-6F48-48AE-8B55-C03543F5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FF6698-99F1-48D2-9F2C-DB6DB78B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3039604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B051F0-84F3-4EC1-8F81-AEEDA36C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0">
            <a:solidFill>
              <a:srgbClr val="F5F8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86228F-E109-4E84-A06A-BF505A1D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F86"/>
                </a:solidFill>
              </a:defRPr>
            </a:pPr>
            <a:r>
              <a:rPr sz="1050" b="1">
                <a:solidFill>
                  <a:srgbClr val="5F6F86"/>
                </a:solidFill>
              </a:rPr>
              <a:t>MUTUAL ACTION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7EFAE-7866-471C-9A33-78E06310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033"/>
                </a:solidFill>
              </a:defRPr>
            </a:pPr>
            <a:r>
              <a:rPr sz="2700" b="1">
                <a:solidFill>
                  <a:srgbClr val="172033"/>
                </a:solidFill>
              </a:rPr>
              <a:t>A simple path from decision to first clean month-end.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03550-88A3-44B9-B661-94F22AD6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00CC6-0139-4523-8E7A-A5466E05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44C1A-994F-4016-84DA-48878C3B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E8F063-52B9-4270-A47A-E235F9C8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Select package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3B6A4-2C03-4917-ACAB-559F86BE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Confirm Books Foundation or the expanded Books Complete scope.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0AAFF-14BE-48C2-88E5-7770535E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4E7210-6B4B-4DA5-90BA-04958877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5259C2-C559-40ED-A8B4-6E5EECB8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5DA0"/>
          </a:solidFill>
          <a:ln xmlns:a="http://schemas.openxmlformats.org/drawingml/2006/main" w="0">
            <a:solidFill>
              <a:srgbClr val="145DA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64FBFC-89C6-4D5A-8139-2C79CEAD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7D7ADB-C31B-4266-BCFD-609101DD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Approve SOW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C20AA3-1FCA-4662-ADEA-6BF68CD6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Name the approval owner and target decision date.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FAA5DB-2EC9-4C33-BA05-608F5D94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FE538E-D5EE-46B3-8DAF-9661FA5F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D529D-C089-471B-BE90-AD1CE3CA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AAE6A-FF83-486E-BA65-371B7FB9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E1D533-126D-4FBF-817D-2E215533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Confirm inputs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A74A8-F3B6-443C-AE9B-246D2E94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Accounting owner, opening balances, chart-of-accounts review, and tax/entity basics.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FA2495-0A9E-4A92-8E14-1871DFBD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2AF274-DE87-4797-8277-7DE067AA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9E6734-E42A-4C1F-9F9E-9120B345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2EC1AD-E27B-4276-8B8E-068361DC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AD6735-D7D9-4869-A20F-33DBEDB3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Implement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517A23-D880-4628-8168-7F378D76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Tailor the books, load opening balances, wire A/R and A/P, and train the team.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4F156B-8BA1-4101-8DC3-7C12658F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14700"/>
            <a:ext cx="32385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45DA0"/>
                </a:solidFill>
              </a:defRPr>
            </a:pPr>
            <a:r>
              <a:rPr sz="1650" b="1">
                <a:solidFill>
                  <a:srgbClr val="145DA0"/>
                </a:solidFill>
              </a:rPr>
              <a:t>-&gt;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AC3618-0304-41E5-82C4-78258289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67000"/>
            <a:ext cx="16764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AD986F-D9AB-453B-B293-7A6F9E99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8956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36B794-FE27-455E-88AE-74A6F932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62275"/>
            <a:ext cx="4191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4798DF-ECC1-4A18-98DC-C933DFE5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24250"/>
            <a:ext cx="1295400" cy="3048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</a:defRPr>
            </a:pPr>
            <a:r>
              <a:rPr sz="1275" b="1">
                <a:solidFill>
                  <a:srgbClr val="172033"/>
                </a:solidFill>
              </a:rPr>
              <a:t>First close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7D18A1-D2E8-46E9-9F89-9277722F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05250"/>
            <a:ext cx="1295400" cy="742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F86"/>
                </a:solidFill>
              </a:defRPr>
            </a:pPr>
            <a:r>
              <a:rPr sz="900" b="0">
                <a:solidFill>
                  <a:srgbClr val="5F6F86"/>
                </a:solidFill>
              </a:rPr>
              <a:t>Run the first month-end in Blueprint and lock the period.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093F45-CBC7-4FA7-8EEB-7F8ED7A8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Blueprint Books for Raves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9A4F9B-7A9F-4032-977C-35246F9E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7B8798"/>
                </a:solidFill>
              </a:defRPr>
            </a:pPr>
            <a:r>
              <a:rPr sz="900" b="0">
                <a:solidFill>
                  <a:srgbClr val="7B879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1225594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F884DE-79B9-4747-B690-4BA111EB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solidFill>
              <a:srgbClr val="0B1F3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D4A92-2298-494A-ABDE-5C194BEE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DB8AC-2D3B-4707-B5E5-1F14A597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5300"/>
            <a:ext cx="1600200" cy="266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RAVES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19E4F-6F1D-4DA2-B99F-A6154FB2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781050"/>
            <a:ext cx="1600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9FB9D2"/>
                </a:solidFill>
              </a:defRPr>
            </a:pPr>
            <a:r>
              <a:rPr sz="975" b="0">
                <a:solidFill>
                  <a:srgbClr val="9FB9D2"/>
                </a:solidFill>
              </a:rPr>
              <a:t>Blueprint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E887E-8959-4B5E-835A-02CC2CC0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70485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6EA"/>
                </a:solidFill>
              </a:defRPr>
            </a:pPr>
            <a:r>
              <a:rPr sz="1050" b="1">
                <a:solidFill>
                  <a:srgbClr val="BFD6EA"/>
                </a:solidFill>
              </a:rPr>
              <a:t>DECISION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EB8F97-F4E4-4103-B5A9-6A62CA2A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895350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Approve Blueprint Books as the next funded phase.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C91B8-13B6-4969-AEDA-91E2C472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28775"/>
            <a:ext cx="8953500" cy="495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FD6EA"/>
                </a:solidFill>
              </a:defRPr>
            </a:pPr>
            <a:r>
              <a:rPr sz="1425" b="0">
                <a:solidFill>
                  <a:srgbClr val="BFD6EA"/>
                </a:solidFill>
              </a:rPr>
              <a:t>Leave with one owner, one date, and the opening-balance source.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8E076B-23E0-48B8-AB40-57654FD1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05100"/>
            <a:ext cx="104775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A5B"/>
          </a:solidFill>
          <a:ln xmlns:a="http://schemas.openxmlformats.org/drawingml/2006/main" w="0">
            <a:solidFill>
              <a:srgbClr val="123A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9451B-69DD-4A5F-A4C8-F7478618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90850"/>
            <a:ext cx="1524000" cy="3429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9FE0C8"/>
                </a:solidFill>
              </a:defRPr>
            </a:pPr>
            <a:r>
              <a:rPr sz="1500" b="1">
                <a:solidFill>
                  <a:srgbClr val="9FE0C8"/>
                </a:solidFill>
              </a:rPr>
              <a:t>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F3A97E-D313-48C9-B2CB-1B80F698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8763000" cy="5524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Approve the Books Foundation build at $18,500 fixed fee.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FB83D-FA42-4EBF-A4AC-264A3051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38600"/>
            <a:ext cx="90487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AF8"/>
                </a:solidFill>
              </a:defRPr>
            </a:pPr>
            <a:r>
              <a:rPr sz="1350" b="0">
                <a:solidFill>
                  <a:srgbClr val="D9EAF8"/>
                </a:solidFill>
              </a:rPr>
              <a:t>Then confirm the approver, target decision date, the accounting owner, and where opening balances and the chart of accounts come from.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E9BF4-3935-489A-A57D-D6D1D6E7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0B83DD-177C-41BB-BCE3-C2E27020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7F5F"/>
          </a:solidFill>
          <a:ln xmlns:a="http://schemas.openxmlformats.org/drawingml/2006/main" w="0">
            <a:solidFill>
              <a:srgbClr val="1D7F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BFF05-1AF2-4D59-AEC5-3C1FA3E6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artifact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120EDC-33EA-4EA6-B681-10BA402E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One-page Books SOW and opening-balance checklist.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F0C7C6-C1B2-4648-9E60-AA4D2E14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1AD7E-2A9A-47B8-9966-20AC56EE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A6D5"/>
          </a:solidFill>
          <a:ln xmlns:a="http://schemas.openxmlformats.org/drawingml/2006/main" w="0">
            <a:solidFill>
              <a:srgbClr val="23A6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191600-C041-4909-BFBC-CD56A1C4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meeting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CC1913-88BB-4EAA-B647-1BE5BAAF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Kickoff once opening balances are confirmed.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BF0815-5A7F-4B83-87CD-728DBCD1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2667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8E2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384406-D587-4D9E-B97B-365A3BEF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73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C16"/>
          </a:solidFill>
          <a:ln xmlns:a="http://schemas.openxmlformats.org/drawingml/2006/main" w="0">
            <a:solidFill>
              <a:srgbClr val="D98C1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66A9FA-C38C-4D2E-A7F8-557BBBB7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257800"/>
            <a:ext cx="2286000" cy="2857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033"/>
                </a:solidFill>
              </a:defRPr>
            </a:pPr>
            <a:r>
              <a:rPr sz="1350" b="1">
                <a:solidFill>
                  <a:srgbClr val="172033"/>
                </a:solidFill>
              </a:rPr>
              <a:t>Next offer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13731B-5B4E-476E-971A-FA3FFF17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619750"/>
            <a:ext cx="226695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F86"/>
                </a:solidFill>
              </a:defRPr>
            </a:pPr>
            <a:r>
              <a:rPr sz="1050" b="0">
                <a:solidFill>
                  <a:srgbClr val="5F6F86"/>
                </a:solidFill>
              </a:rPr>
              <a:t>Books Care after go-live for monthly close support.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AF833E-83E5-4B56-BF8D-204145D8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40005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Blueprint Books for Raves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E09CF1-7E17-4915-BF38-49D1DB83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57200" cy="228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FB9D2"/>
                </a:solidFill>
              </a:defRPr>
            </a:pPr>
            <a:r>
              <a:rPr sz="900" b="0">
                <a:solidFill>
                  <a:srgbClr val="9FB9D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32855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2026-06-09T23:54:13.1800000Z</dcterms:created>
  <dcterms:modified xsi:type="dcterms:W3CDTF">2026-06-09T23:54:13.1800000Z</dcterms:modified>
</coreProperties>
</file>
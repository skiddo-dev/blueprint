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10d730689c42e3" /><Relationship Type="http://schemas.openxmlformats.org/officeDocument/2006/relationships/extended-properties" Target="/docProps/app.xml" Id="Ra758f902ed3c494e" /><Relationship Type="http://schemas.openxmlformats.org/officeDocument/2006/relationships/officeDocument" Target="/ppt/presentation.xml" Id="Rb3d4bde7eab544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9e60e7b698424f"/>
  </p:sldMasterIdLst>
  <p:notesMasterIdLst>
    <p:notesMasterId xmlns:r="http://schemas.openxmlformats.org/officeDocument/2006/relationships" r:id="R946f091c9c34431f"/>
  </p:notesMasterIdLst>
  <p:sldIdLst>
    <p:sldId xmlns:r="http://schemas.openxmlformats.org/officeDocument/2006/relationships" id="256" r:id="Rc801782da9da4e42"/>
    <p:sldId xmlns:r="http://schemas.openxmlformats.org/officeDocument/2006/relationships" id="257" r:id="R5dee284de5bf4083"/>
    <p:sldId xmlns:r="http://schemas.openxmlformats.org/officeDocument/2006/relationships" id="258" r:id="R368875123b0741d8"/>
    <p:sldId xmlns:r="http://schemas.openxmlformats.org/officeDocument/2006/relationships" id="259" r:id="Rde4e71d65d404fcd"/>
    <p:sldId xmlns:r="http://schemas.openxmlformats.org/officeDocument/2006/relationships" id="260" r:id="R276081a658174008"/>
    <p:sldId xmlns:r="http://schemas.openxmlformats.org/officeDocument/2006/relationships" id="261" r:id="R747f89d6a7784cfe"/>
    <p:sldId xmlns:r="http://schemas.openxmlformats.org/officeDocument/2006/relationships" id="262" r:id="R96c96a8516df43ab"/>
    <p:sldId xmlns:r="http://schemas.openxmlformats.org/officeDocument/2006/relationships" id="263" r:id="R648fdcc727b24c51"/>
    <p:sldId xmlns:r="http://schemas.openxmlformats.org/officeDocument/2006/relationships" id="264" r:id="R1e5933d333f34896"/>
    <p:sldId xmlns:r="http://schemas.openxmlformats.org/officeDocument/2006/relationships" id="265" r:id="Rdf0bf97610734d96"/>
    <p:sldId xmlns:r="http://schemas.openxmlformats.org/officeDocument/2006/relationships" id="266" r:id="R21461f808aa843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56669e45ad4ccb" /><Relationship Type="http://schemas.openxmlformats.org/officeDocument/2006/relationships/slideMaster" Target="/ppt/slideMasters/slideMaster1.xml" Id="Rf29e60e7b698424f" /><Relationship Type="http://schemas.openxmlformats.org/officeDocument/2006/relationships/notesMaster" Target="/ppt/notesMasters/notesMaster1.xml" Id="R946f091c9c34431f" /><Relationship Type="http://schemas.openxmlformats.org/officeDocument/2006/relationships/presProps" Target="/ppt/presProps.xml" Id="Ra7baaff431d442a4" /><Relationship Type="http://schemas.openxmlformats.org/officeDocument/2006/relationships/viewProps" Target="/ppt/viewProps.xml" Id="R4fadf9ec30df44e6" /><Relationship Type="http://schemas.openxmlformats.org/officeDocument/2006/relationships/tableStyles" Target="/ppt/tableStyles.xml" Id="R55f8368457a4405d" /><Relationship Type="http://schemas.openxmlformats.org/officeDocument/2006/relationships/slide" Target="/ppt/slides/slide1.xml" Id="Rc801782da9da4e42" /><Relationship Type="http://schemas.openxmlformats.org/officeDocument/2006/relationships/slide" Target="/ppt/slides/slide2.xml" Id="R5dee284de5bf4083" /><Relationship Type="http://schemas.openxmlformats.org/officeDocument/2006/relationships/slide" Target="/ppt/slides/slide3.xml" Id="R368875123b0741d8" /><Relationship Type="http://schemas.openxmlformats.org/officeDocument/2006/relationships/slide" Target="/ppt/slides/slide4.xml" Id="Rde4e71d65d404fcd" /><Relationship Type="http://schemas.openxmlformats.org/officeDocument/2006/relationships/slide" Target="/ppt/slides/slide5.xml" Id="R276081a658174008" /><Relationship Type="http://schemas.openxmlformats.org/officeDocument/2006/relationships/slide" Target="/ppt/slides/slide6.xml" Id="R747f89d6a7784cfe" /><Relationship Type="http://schemas.openxmlformats.org/officeDocument/2006/relationships/slide" Target="/ppt/slides/slide7.xml" Id="R96c96a8516df43ab" /><Relationship Type="http://schemas.openxmlformats.org/officeDocument/2006/relationships/slide" Target="/ppt/slides/slide8.xml" Id="R648fdcc727b24c51" /><Relationship Type="http://schemas.openxmlformats.org/officeDocument/2006/relationships/slide" Target="/ppt/slides/slide9.xml" Id="R1e5933d333f34896" /><Relationship Type="http://schemas.openxmlformats.org/officeDocument/2006/relationships/slide" Target="/ppt/slides/slide10.xml" Id="Rdf0bf97610734d96" /><Relationship Type="http://schemas.openxmlformats.org/officeDocument/2006/relationships/slide" Target="/ppt/slides/slide11.xml" Id="R21461f808aa843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684bad20fe47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39a1093f9b4305" /><Relationship Type="http://schemas.openxmlformats.org/officeDocument/2006/relationships/notesMaster" Target="/ppt/notesMasters/notesMaster1.xml" Id="R33ef4b8caf504d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664fbb548947c6" /><Relationship Type="http://schemas.openxmlformats.org/officeDocument/2006/relationships/notesMaster" Target="/ppt/notesMasters/notesMaster1.xml" Id="R058bfd88bfdb43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da664b4e5447c0" /><Relationship Type="http://schemas.openxmlformats.org/officeDocument/2006/relationships/notesMaster" Target="/ppt/notesMasters/notesMaster1.xml" Id="R49b0a2fab6064d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4e1d300d24353" /><Relationship Type="http://schemas.openxmlformats.org/officeDocument/2006/relationships/notesMaster" Target="/ppt/notesMasters/notesMaster1.xml" Id="R1dc18846f823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892f7e836f438e" /><Relationship Type="http://schemas.openxmlformats.org/officeDocument/2006/relationships/notesMaster" Target="/ppt/notesMasters/notesMaster1.xml" Id="R4a80b78afdd744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f810be21634b70" /><Relationship Type="http://schemas.openxmlformats.org/officeDocument/2006/relationships/notesMaster" Target="/ppt/notesMasters/notesMaster1.xml" Id="Rfdf41bb5333c43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aec9e57d4c4295" /><Relationship Type="http://schemas.openxmlformats.org/officeDocument/2006/relationships/notesMaster" Target="/ppt/notesMasters/notesMaster1.xml" Id="Rdec892450bb24d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4d1308585044ac" /><Relationship Type="http://schemas.openxmlformats.org/officeDocument/2006/relationships/notesMaster" Target="/ppt/notesMasters/notesMaster1.xml" Id="R6cf7bc1f3e4446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270b2cc11a44fc" /><Relationship Type="http://schemas.openxmlformats.org/officeDocument/2006/relationships/notesMaster" Target="/ppt/notesMasters/notesMaster1.xml" Id="R2364c9c3df784e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6a5516d1ac4dd3" /><Relationship Type="http://schemas.openxmlformats.org/officeDocument/2006/relationships/notesMaster" Target="/ppt/notesMasters/notesMaster1.xml" Id="R03573c10f2b34c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e0c221b8394107" /><Relationship Type="http://schemas.openxmlformats.org/officeDocument/2006/relationships/notesMaster" Target="/ppt/notesMasters/notesMaster1.xml" Id="Re9efac932b7b49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3e04c19434a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77fd0e24e4f79" /><Relationship Type="http://schemas.openxmlformats.org/officeDocument/2006/relationships/slideLayout" Target="/ppt/slideLayouts/slideLayout1.xml" Id="R6c63ba5815d44f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63ba5815d44f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cea5430984766" /><Relationship Type="http://schemas.openxmlformats.org/officeDocument/2006/relationships/notesSlide" Target="/ppt/notesSlides/notesSlide1.xml" Id="R7fff6643a4214d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5527e561d40fc" /><Relationship Type="http://schemas.openxmlformats.org/officeDocument/2006/relationships/notesSlide" Target="/ppt/notesSlides/notesSlide2.xml" Id="Rdcad4aa54ba947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af57cd1084c67" /><Relationship Type="http://schemas.openxmlformats.org/officeDocument/2006/relationships/notesSlide" Target="/ppt/notesSlides/notesSlide3.xml" Id="R82ee0bcf36cd42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b26f1a35a4a84" /><Relationship Type="http://schemas.openxmlformats.org/officeDocument/2006/relationships/notesSlide" Target="/ppt/notesSlides/notesSlide4.xml" Id="R357f930942f04d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17fa0077c43b3" /><Relationship Type="http://schemas.openxmlformats.org/officeDocument/2006/relationships/notesSlide" Target="/ppt/notesSlides/notesSlide5.xml" Id="Rd2c37374d19649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412bf4b434e37" /><Relationship Type="http://schemas.openxmlformats.org/officeDocument/2006/relationships/image" Target="/ppt/media/image.png" Id="R1168033db0ab4f59" /><Relationship Type="http://schemas.openxmlformats.org/officeDocument/2006/relationships/notesSlide" Target="/ppt/notesSlides/notesSlide6.xml" Id="R5ec241130fb649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ba1e678824345" /><Relationship Type="http://schemas.openxmlformats.org/officeDocument/2006/relationships/image" Target="/ppt/media/image2.png" Id="Rab7d5a3b8fa7404c" /><Relationship Type="http://schemas.openxmlformats.org/officeDocument/2006/relationships/image" Target="/ppt/media/image3.png" Id="R73895721f8f04fd4" /><Relationship Type="http://schemas.openxmlformats.org/officeDocument/2006/relationships/image" Target="/ppt/media/image4.png" Id="Rc69b734812994ef7" /><Relationship Type="http://schemas.openxmlformats.org/officeDocument/2006/relationships/notesSlide" Target="/ppt/notesSlides/notesSlide7.xml" Id="Rfc5d9fd0be5b43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5807ac88840d3" /><Relationship Type="http://schemas.openxmlformats.org/officeDocument/2006/relationships/notesSlide" Target="/ppt/notesSlides/notesSlide8.xml" Id="R3d598bfc353746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95bd06c3046d7" /><Relationship Type="http://schemas.openxmlformats.org/officeDocument/2006/relationships/notesSlide" Target="/ppt/notesSlides/notesSlide9.xml" Id="Re7355e45e22d42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7863a34b843ce" /><Relationship Type="http://schemas.openxmlformats.org/officeDocument/2006/relationships/notesSlide" Target="/ppt/notesSlides/notesSlide10.xml" Id="R872ebc74b9584f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95495fbd74d72" /><Relationship Type="http://schemas.openxmlformats.org/officeDocument/2006/relationships/notesSlide" Target="/ppt/notesSlides/notesSlide11.xml" Id="Rf9012ecd9cb848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E37280-3131-4CAE-AABE-E78A8F1A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72626-CA4C-43DC-9AFD-4F9C8983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88F5D-AE64-4D47-87F7-C400A8B3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5300"/>
            <a:ext cx="1600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RAVES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10531-C83B-4F8F-A924-A5B053B9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1050"/>
            <a:ext cx="1600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FB9D2"/>
                </a:solidFill>
              </a:defRPr>
            </a:pPr>
            <a:r>
              <a:rPr sz="975" b="0">
                <a:solidFill>
                  <a:srgbClr val="9FB9D2"/>
                </a:solidFill>
              </a:rPr>
              <a:t>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49C35-5B0A-44D1-B180-54899136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33425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CCE5"/>
                </a:solidFill>
              </a:defRPr>
            </a:pPr>
            <a:r>
              <a:rPr sz="1350" b="1">
                <a:solidFill>
                  <a:srgbClr val="A7CCE5"/>
                </a:solidFill>
              </a:rPr>
              <a:t>Blueprint Next 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98EF-2BE4-4197-A3ED-2CE8C0A4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38200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Blueprint Books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1CA28-F20A-41FE-874E-7DE0DC1B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83820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FE0C8"/>
                </a:solidFill>
              </a:defRPr>
            </a:pPr>
            <a:r>
              <a:rPr sz="1950" b="1">
                <a:solidFill>
                  <a:srgbClr val="9FE0C8"/>
                </a:solidFill>
              </a:rPr>
              <a:t>Construction financial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D66F7-E455-4D80-A293-D80D4F19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</a:defRPr>
            </a:pPr>
            <a:r>
              <a:rPr sz="1725" b="0">
                <a:solidFill>
                  <a:srgbClr val="D9EAF8"/>
                </a:solidFill>
              </a:rPr>
              <a:t>Run job-costed books inside the platform Raves already uses, instead of spreadsheets and disconnected accounting.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C790B-3A12-4CD0-8C3B-86097482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EB3"/>
          </a:solidFill>
          <a:ln xmlns:a="http://schemas.openxmlformats.org/drawingml/2006/main" w="0">
            <a:solidFill>
              <a:srgbClr val="2A7E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F98DA-C039-48AF-BD2B-9881A410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68580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Decision ask: approve the Books Foundation build and confirm the accounting owner and opening balances.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C7697-9681-4238-A8D6-FA0356D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5905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9D2"/>
                </a:solidFill>
              </a:defRPr>
            </a:pPr>
            <a:r>
              <a:rPr sz="1125" b="0">
                <a:solidFill>
                  <a:srgbClr val="9FB9D2"/>
                </a:solidFill>
              </a:rPr>
              <a:t>Prepared for Raves Inc. / Raves Construction</a:t>
            </a:r>
          </a:p>
          <a:p xmlns:a="http://schemas.openxmlformats.org/drawingml/2006/main">
            <a:pPr algn="l">
              <a:defRPr sz="1125" b="0">
                <a:solidFill>
                  <a:srgbClr val="9FB9D2"/>
                </a:solidFill>
              </a:defRPr>
            </a:pPr>
            <a:r>
              <a:rPr sz="1125" b="0">
                <a:solidFill>
                  <a:srgbClr val="9FB9D2"/>
                </a:solidFill>
              </a:rPr>
              <a:t>June 9,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7EF2B-ED9C-4FC4-8C4E-18997F2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9D2"/>
                </a:solidFill>
              </a:defRPr>
            </a:pPr>
            <a:r>
              <a:rPr sz="900" b="0">
                <a:solidFill>
                  <a:srgbClr val="9FB9D2"/>
                </a:solidFill>
              </a:rPr>
              <a:t>Blueprint Books for Raves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D8DC5-C028-45D8-82B1-DE7686C1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9D2"/>
                </a:solidFill>
              </a:defRPr>
            </a:pPr>
            <a:r>
              <a:rPr sz="900" b="0">
                <a:solidFill>
                  <a:srgbClr val="9FB9D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45659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D082E-33F5-436E-A617-7D3BC482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0E9AA-2836-4F38-B749-BFE44838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F86"/>
                </a:solidFill>
              </a:defRPr>
            </a:pPr>
            <a:r>
              <a:rPr sz="1050" b="1">
                <a:solidFill>
                  <a:srgbClr val="5F6F86"/>
                </a:solidFill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6E803-7201-47CB-878E-641D9D8A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The money already flows through Blueprint. The books do not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155C1-D19F-4891-B31E-6C13A6D4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8953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86"/>
                </a:solidFill>
              </a:defRPr>
            </a:pPr>
            <a:r>
              <a:rPr sz="1425" b="0">
                <a:solidFill>
                  <a:srgbClr val="5F6F86"/>
                </a:solidFill>
              </a:rPr>
              <a:t>Quotes, vendors, and attachments live in Blueprint, but profit, A/R, and A/P still live in spreadsheets.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33870-5A6C-4FA0-8B19-46D80FF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400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E97E7-10C8-4DE1-9E0C-078FD548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F7FC3-0A6E-42EB-BEAD-431A8535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9431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$9.3M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ED2A7-FD5C-4205-A087-ADBEB0B1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1943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open value in the loaded quote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2F186-BD63-4E63-BD5B-D9BEF7A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2400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1A0DB-216E-4398-B96F-E80865B6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7BF3A-AAA1-4EFE-BF30-A6FC164E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19431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536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F966D-E12E-4C18-BD0F-9795BDC3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1943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loaded quote-log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3D793-8A55-41B8-8C31-B2E91064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400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622FC-EDED-464A-9E4E-6828423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963E5-E55A-4379-A70D-A6D6CE09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9431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8E02B-688B-4EEF-A974-7F7B0718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943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task records driving job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2A0CC-774B-44EF-A409-E2933A81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400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F1D60-D0CC-4E7D-BA1F-E24E4EBE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5F5CD-8AA4-4DE2-9550-ACDBB312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19431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AF23D-7E44-450B-ABC2-20545D26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24200"/>
            <a:ext cx="1943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email attachments (invoices, bills, POs)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5DDAA-C85E-414D-8B0B-D71A0720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33850"/>
            <a:ext cx="2400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FDBAB-2174-4A5E-801F-68ED81BF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338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91FF8-50F3-47CD-A9A1-5442301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24350"/>
            <a:ext cx="19431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8 /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5A59A-3E5F-4F75-BD1C-444D53A3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62500"/>
            <a:ext cx="1943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provisioned users / active last 7 days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643BB-1D58-460C-B28D-FDF9737B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33850"/>
            <a:ext cx="2400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344B9E-1166-4D6A-B8F4-BCE3D6F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338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545"/>
          </a:solidFill>
          <a:ln xmlns:a="http://schemas.openxmlformats.org/drawingml/2006/main" w="0">
            <a:solidFill>
              <a:srgbClr val="B545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8105F-1D47-4073-9071-49CF18CA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24350"/>
            <a:ext cx="19431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FBEF4-63B4-4BAF-8F13-04D61F5F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62500"/>
            <a:ext cx="1943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of that visible as job-costed books today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0F18C-4425-48EA-82EA-EBE92E4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2400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B7571E-5A13-4666-91BB-69E0104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29137-7BB6-4E58-B5F5-35543FD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9431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27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BB5714-548E-4B24-A1CF-A6B73F9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1943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prospect records feeding future revenue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17E0C-2D03-484C-9489-B5F319D9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Blueprint Books for Raves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472409-3FF6-4389-822A-48E5030F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88018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5248DF-86D7-4658-BF12-C0F1C727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DA448-ADD4-4448-A220-B5942DB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F86"/>
                </a:solidFill>
              </a:defRPr>
            </a:pPr>
            <a:r>
              <a:rPr sz="1050" b="1">
                <a:solidFill>
                  <a:srgbClr val="5F6F86"/>
                </a:solidFill>
              </a:rPr>
              <a:t>SYSTEM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65EFE-494E-4D2D-9162-FCB6FCB7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Turn work Raves already tracks into double-entry books.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4DAF1-3753-4E3E-B032-6D353DB0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E024C-B05D-448C-9FCC-CBF23B02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3E332-717E-4BA2-8231-B2488445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622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What Blueprint already holds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1E990-C302-4A23-BE6E-D45D5039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F73A3-AD1D-4A7E-A879-5F015D69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Won quotes and contract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FAFFE-DABB-4D38-9B0A-6C9EA697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DD952-81D6-4A24-813E-6B5C3424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Vendor bills and POs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22382-AC46-4DB2-BDE5-A601FBE5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835F9-CB8D-4F1B-99A4-52DE9769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Customer and vendor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B066B-34F9-4BEE-965E-3DA274F1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34E9E-6B65-422D-B4CC-FA8B01BF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Job activity and attachments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789D1-003A-4D38-9795-FA3657BE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4D63F-68BF-48D0-9669-995E9A66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A2958-41D5-4E77-B02F-987FA708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57450"/>
            <a:ext cx="23622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Blueprint Books ledger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835E8-C091-4324-AEC0-CFCB06AF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F6907-6AF5-4277-8C1F-C0F1ADC5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Job-costed chart of accounts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FDD1E-746B-4D33-AEC6-474CF827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74080-7DE3-4E02-BB3F-E4E18AC0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Invoices, payments, A/R 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D167C-3529-4274-BD23-8C5B8A66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81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21584-27CF-4A31-8833-2BA1EB4C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Bills, payments, A/P aging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F7D71-B591-4154-AA99-59BE390D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3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849B6-FA49-41BA-BCF1-C6471B89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624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Journal, trial balance, close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294BF-55DE-4555-BBFD-E21E24E4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857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ABB9B-970B-43EC-8E2B-9375B46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A27230-44D1-44B2-BB49-B322F16E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3622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What Raves leadership sees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1ADAD-C7C6-40DF-B18F-C9AF8A6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69B85-1482-4994-817B-9212D1AC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Profit per job, not guesses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87EC3-4F59-4BA4-A073-5D0C1651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E324EE-F5C8-4224-921D-A4A06221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Who owes us and what we owe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E62E2A-4162-45BE-90A6-381499B9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81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5326C8-1C01-403A-850D-6CD2B184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052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Tax-ready P&amp;L and balance sheet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7F994A-9614-4175-A331-B38EF8B9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1F7ABA-59FD-40C4-8901-C83EFF7F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2133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Clean, locked month-end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903B3F-95F9-4A6A-B365-A5374B93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76600"/>
            <a:ext cx="5524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7F5F"/>
                </a:solidFill>
              </a:defRPr>
            </a:pPr>
            <a:r>
              <a:rPr sz="2550" b="1">
                <a:solidFill>
                  <a:srgbClr val="1D7F5F"/>
                </a:solidFill>
              </a:rPr>
              <a:t>-&gt;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81880F-545E-4656-889B-8D0E091F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5524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5DA0"/>
                </a:solidFill>
              </a:defRPr>
            </a:pPr>
            <a:r>
              <a:rPr sz="2550" b="1">
                <a:solidFill>
                  <a:srgbClr val="145DA0"/>
                </a:solidFill>
              </a:rPr>
              <a:t>-&gt;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CCA8DB-69D8-4609-A0BA-82E59AB1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Blueprint Books for Raves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A6E482-EC90-4CB0-97B1-73346276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74001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21AE4-13A3-47FC-982F-BB7DDC9F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63BA8-EABE-4B34-B98F-C78344C5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6EA"/>
                </a:solidFill>
              </a:defRPr>
            </a:pPr>
            <a:r>
              <a:rPr sz="1050" b="1">
                <a:solidFill>
                  <a:srgbClr val="BFD6EA"/>
                </a:solidFill>
              </a:rPr>
              <a:t>THE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7F017-DDA3-4687-BDF3-E08F6691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financial picture is stitched together by hand.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61773-6ED6-47E5-8FB0-FF818108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8953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FD6EA"/>
                </a:solidFill>
              </a:defRPr>
            </a:pPr>
            <a:r>
              <a:rPr sz="1425" b="0">
                <a:solidFill>
                  <a:srgbClr val="BFD6EA"/>
                </a:solidFill>
              </a:rPr>
              <a:t>The risk is not a lack of revenue. It is that revenue, cost, and cash live in separate places, so profit is a guess until the accountant catches 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AE433-FD3E-4A59-B540-5AE22C0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5300"/>
            <a:ext cx="1600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RAVES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A25C8-880E-442D-B1D4-8FD8C1C6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1050"/>
            <a:ext cx="1600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FB9D2"/>
                </a:solidFill>
              </a:defRPr>
            </a:pPr>
            <a:r>
              <a:rPr sz="975" b="0">
                <a:solidFill>
                  <a:srgbClr val="9FB9D2"/>
                </a:solidFill>
              </a:rPr>
              <a:t>Blueprint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2977-8289-42E8-A196-18F27766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400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C8324-7A4A-457F-9116-906374DB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545"/>
          </a:solidFill>
          <a:ln xmlns:a="http://schemas.openxmlformats.org/drawingml/2006/main" w="0">
            <a:solidFill>
              <a:srgbClr val="B545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136BF-5E81-40A4-9590-D85FA17D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019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Job profit is a guess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916AC-403D-48D4-B0D4-029CF3F5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00025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Costs sit in spreadsheets and email, so margin per job is only known late, if at 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C204C-BE55-43D0-9C13-C98D5E03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400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C3466-E69D-4FDE-85F8-7A5EA2E0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C9003-2779-4158-8975-0F1CB9D7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2019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A/R slips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D68BF-1C14-4CE3-B56D-FF3D5BB1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09950"/>
            <a:ext cx="200025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Without aging in the tool, slow-paying customers are noticed by feel, not by report.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C51F5-489E-4D61-9E06-10C232AB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400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575FE-EB3F-4BB0-BA16-E0BB3F82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5CEDC-A675-4473-AC01-892CFD4D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2019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Retainage by hand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BC4AA-A86D-4070-A2B5-D4A95C28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200025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Retainage receivable and payable on construction jobs is tracked manually and easy to lose.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41A1D-E5D9-4763-B69A-1AE99C0C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400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22F92-5DC3-468B-A4D5-B26AE6A1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ADCD7-BBD9-4066-9BC6-BA583F34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19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Month-end is manual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0D6BE-1447-4A65-AD48-C64C768A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00025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Closing the books means re-keying Blueprint data into separate accounting software.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EC11E-C5FB-4423-978C-E98CCB8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7810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Recommended next funded phase: Blueprint Books Foundation.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D9B0C-FA0D-41EA-82C8-EBDC9B7F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9D2"/>
                </a:solidFill>
              </a:defRPr>
            </a:pPr>
            <a:r>
              <a:rPr sz="900" b="0">
                <a:solidFill>
                  <a:srgbClr val="9FB9D2"/>
                </a:solidFill>
              </a:rPr>
              <a:t>Blueprint Books for Raves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C9B9C-D881-4D51-899C-D744288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9D2"/>
                </a:solidFill>
              </a:defRPr>
            </a:pPr>
            <a:r>
              <a:rPr sz="900" b="0">
                <a:solidFill>
                  <a:srgbClr val="9FB9D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5150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CDC9F-7B58-41B1-9926-681A2551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E0509-84B6-44BD-8452-CDA3F5D6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F86"/>
                </a:solidFill>
              </a:defRPr>
            </a:pPr>
            <a:r>
              <a:rPr sz="1050" b="1">
                <a:solidFill>
                  <a:srgbClr val="5F6F86"/>
                </a:solidFill>
              </a:rPr>
              <a:t>WHAT IT DELIVERS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EE278-FFB6-40AA-B205-0D8DCE3E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A real set of construction books, already built into Blueprint.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AF4B2-3FE6-466A-AE38-9F40F6EA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38FAE-6C6A-4F0E-AE4E-0BCA47DF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70A90-8AFF-4675-8F70-C29C557C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Job costing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C7A8B-251E-44FD-BF37-9599A7F0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Profit and margin per job, built from invoices, bills, and expenses tagged with the job.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2D71B-517A-4440-88BA-2AD86EBA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D8C5C-3AC5-4522-8FF9-721F1057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B9111-5B94-4EDE-BF15-BE9B894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Invoices &amp; A/R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A1E8B-AD5F-477F-98DA-D075F8BB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Invoice customers from won quotes, record payments and credit memos, watch A/R aging.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B6089-98A6-4FD7-8AC6-3D56860B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228C3-F5ED-40DE-8D9C-1ED7B344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030B1-33DD-44C0-B6D6-DD2C8A3E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Bills &amp; A/P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6F31E-F4DD-4078-A6D8-CE4F252A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Vendor bills, payments, vendor credits, one-click expense entry, and A/P aging.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EBD98-0E74-4BD5-A044-8D966567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E2CEA-4BAE-490B-B340-B101DEE8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AD614-AE98-4709-8D9B-CC69E255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Ledger &amp; registers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59FB1-2307-4A04-909B-66CBFDDB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Double-entry journal, a live trial balance, and a running-balance register per account.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5E2CC-BB30-496A-A5AD-82A17FB6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94E2B-65E9-4593-8E6C-ECDAA4BC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A5F77-AF63-48B5-AA01-D5616B09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Statements &amp;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27762-020C-4866-A09C-CF8CB84C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Income statement, balance sheet, cash flow, and P&amp;L by month — print-ready on demand.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93C70-A7E9-4260-9862-F148FF5A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A3AC6-1E80-4833-AEAE-5721A0F5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2C06B-3BC6-4F96-A380-3BEA8014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958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Close &amp; PDFs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AFB0E-8E3F-4173-AA35-A1B82596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Lock a period when it is final, and send branded invoice, bill, and statement PDFs.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26999-00E5-4043-B8D9-5EAD3980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Blueprint Books for Raves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80125C-C980-454D-9D98-AE9FC7AF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00099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2BA3A-F61B-417C-8DBF-FD63978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9EABD-131B-48C4-9DC4-694AD952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8961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D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8033db0ab4f59"/>
          <a:stretch xmlns:a="http://schemas.openxmlformats.org/drawingml/2006/main"/>
        </p:blipFill>
        <p:spPr>
          <a:xfrm xmlns:a="http://schemas.openxmlformats.org/drawingml/2006/main">
            <a:off x="685800" y="1943100"/>
            <a:ext cx="6858000" cy="434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B0C4A-2DFB-40BF-B6B0-387683D4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F86"/>
                </a:solidFill>
              </a:defRPr>
            </a:pPr>
            <a:r>
              <a:rPr sz="1050" b="1">
                <a:solidFill>
                  <a:srgbClr val="5F6F86"/>
                </a:solidFill>
              </a:rPr>
              <a:t>PRODUCT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DA7B2-09D1-4427-A6E7-B666966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Already built — this is the live product, not a mockup.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E8764-92D4-4C70-979B-5952C265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8953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86"/>
                </a:solidFill>
              </a:defRPr>
            </a:pPr>
            <a:r>
              <a:rPr sz="1425" b="0">
                <a:solidFill>
                  <a:srgbClr val="5F6F86"/>
                </a:solidFill>
              </a:rPr>
              <a:t>Screenshots from the deployed module with demo books loaded; every figure ties 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9F023-30CF-4F29-AAA3-32DE9557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314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70EB0-8CE1-4CE8-A1B1-88356015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742E8-924D-4BB9-9F3A-74495DB7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29337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Money at a glance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730E6-8AA8-4756-8550-83CBF970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9146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Cash, A/R, A/P, and profit — each with month-over-month direction.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07855-6FB9-47A8-857C-599BC27C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14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7A3EB-24E2-4E55-991E-85A11FC4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44F50-4A61-423B-9DE7-9DFEA676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9337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Trend, not guesswork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2F4CD-BF3C-4DFA-B4A6-9F24A73E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9146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Six months of revenue vs expenses, with net income per month.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C258D-825A-4EE1-A9E7-E568F761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3314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9F368-5922-452A-9F43-1B03D734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C9AA1-D18A-4842-A9E3-367CE9A6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24400"/>
            <a:ext cx="29337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Urgency built 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4E199-41C3-4AA3-B615-7E250AEA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86350"/>
            <a:ext cx="29146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Overdue invoices and bills due this week surface themselves.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30A9A-B56F-4397-8680-04694D9E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Blueprint Books for Raves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FC484-5B04-4706-858A-AD7FEBD0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20381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E9B8DE-6CFA-4693-91F7-26CDA8DE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200BC-7EC9-4DAD-979E-8311D30E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F86"/>
                </a:solidFill>
              </a:defRPr>
            </a:pPr>
            <a:r>
              <a:rPr sz="1050" b="1">
                <a:solidFill>
                  <a:srgbClr val="5F6F86"/>
                </a:solidFill>
              </a:rPr>
              <a:t>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4DAB7-68E6-42A2-8B64-2C2A44E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From invoice to clean statements.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FD8C4-D696-4945-8DC6-0E3F7F20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3543300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D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d5a3b8fa7404c"/>
          <a:stretch xmlns:a="http://schemas.openxmlformats.org/drawingml/2006/main"/>
        </p:blipFill>
        <p:spPr>
          <a:xfrm xmlns:a="http://schemas.openxmlformats.org/drawingml/2006/main">
            <a:off x="685800" y="1962150"/>
            <a:ext cx="3505200" cy="22193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C9AD1-8BF4-4954-9C5B-587490F5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3695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86"/>
                </a:solidFill>
              </a:defRPr>
            </a:pPr>
            <a:r>
              <a:rPr sz="975" b="0">
                <a:solidFill>
                  <a:srgbClr val="5F6F86"/>
                </a:solidFill>
              </a:rPr>
              <a:t>Invoices: status filters, overdue flags, payment progress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85075-1CDD-4C06-8499-07892961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3543300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D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95721f8f04fd4"/>
          <a:stretch xmlns:a="http://schemas.openxmlformats.org/drawingml/2006/main"/>
        </p:blipFill>
        <p:spPr>
          <a:xfrm xmlns:a="http://schemas.openxmlformats.org/drawingml/2006/main">
            <a:off x="4343400" y="1962150"/>
            <a:ext cx="3505200" cy="22193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68493-D5C0-459C-BA08-88E1B71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76725"/>
            <a:ext cx="3695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86"/>
                </a:solidFill>
              </a:defRPr>
            </a:pPr>
            <a:r>
              <a:rPr sz="975" b="0">
                <a:solidFill>
                  <a:srgbClr val="5F6F86"/>
                </a:solidFill>
              </a:rPr>
              <a:t>Income statement: one-click periods, print for the bank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616BD-8B44-49EF-817C-89820231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3543300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D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b734812994ef7"/>
          <a:stretch xmlns:a="http://schemas.openxmlformats.org/drawingml/2006/main"/>
        </p:blipFill>
        <p:spPr>
          <a:xfrm xmlns:a="http://schemas.openxmlformats.org/drawingml/2006/main">
            <a:off x="8001000" y="1962150"/>
            <a:ext cx="3505200" cy="22193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9EDBC-CB9F-498C-9B0C-ED69E20D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76725"/>
            <a:ext cx="3695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86"/>
                </a:solidFill>
              </a:defRPr>
            </a:pPr>
            <a:r>
              <a:rPr sz="975" b="0">
                <a:solidFill>
                  <a:srgbClr val="5F6F86"/>
                </a:solidFill>
              </a:rPr>
              <a:t>Bank reconciliation: tick to zero, CSV auto-match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7A25E-F7DC-4F8F-980D-AE0FB2C9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22885-0841-4437-8B50-9A41F69C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A4DC9-26F1-4F73-A48F-DAE7A382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39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Also in the 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7C9CB-195E-4CD5-80DC-0087ED21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4203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Vendor bills and A/P, customer and vendor directories, A/R + A/P aging, balance sheet, cash flow, account registers, job costing, recurring transactions, credit memos and void, customer statement PDFs, quick expense entry, period close, invoice/bill PDFs, dark mode.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4C86D-A431-493C-AD4A-662DDFF6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Blueprint Books for Raves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1C2F9-3C78-4DDA-851D-5DDC3139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48640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6B7B42-893B-4478-A9A3-2B06F13B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38729-DA73-499C-8812-290D9857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F86"/>
                </a:solidFill>
              </a:defRPr>
            </a:pPr>
            <a:r>
              <a:rPr sz="1050" b="1">
                <a:solidFill>
                  <a:srgbClr val="5F6F86"/>
                </a:solidFill>
              </a:rPr>
              <a:t>ALREADY SHIPPED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C96CD-D5D3-45F7-97A7-CA9680E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The QuickBooks-replacement layer is live in the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9FE4F-F8AC-4749-AE3E-A67CC0D2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8953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86"/>
                </a:solidFill>
              </a:defRPr>
            </a:pPr>
            <a:r>
              <a:rPr sz="1425" b="0">
                <a:solidFill>
                  <a:srgbClr val="5F6F86"/>
                </a:solidFill>
              </a:rPr>
              <a:t>Everything below is deployed today — rollout work, not a build-from-scratch roadmap.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EA5F2-5133-4A52-B854-B7124FF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9C6D9-1788-49C5-AD36-45A8E776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14308-5418-4679-8F01-D75121CC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Account registers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EF1CA-67F7-4AB1-9869-E9ADE338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Running-balance history for every account — a checkbook view per ledger 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CACE4-F4A5-4B16-8A2B-C00F509E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6A189-F935-4C1E-A396-98E3922D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4C3F0-9F36-4B4B-8F18-E14B87D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Report pack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3D0F8-B1A4-4815-9FDD-A0B58CF0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General Ledger, Journal, and P&amp;L by month, alongside the three statements.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EA5DC-D6A6-447E-95E1-FD30AD08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F6671-7BD9-4D06-B782-D6362093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9934E-4A1B-41B0-A374-3D035257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Job costing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15F0E-1507-4F1E-9126-962796D2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Per-job profit and margin from invoices, bills, and expenses tagged with the job.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B4E91-CD6F-4B84-B438-46B19CBE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96103-7A8C-4D26-8B72-E7650CF0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403E6-4C2E-452B-9088-915B17C2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Credits &amp; void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AB117-C3FF-446E-8D07-054729B2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Credit memos, vendor credits, and void — every correction an append-only reversal.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8EBA0-3C9C-4D1D-AD27-C88672E1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F4A76-1C87-49E5-840D-4CEA9B8F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CC17D-7B7A-4558-A3FD-F998DA87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Customer statements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BDBA6-BA63-48EB-BC97-F72AE8A5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A PDF of a customer’s open invoices with ages and total due, collections-ready.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D88B1-08E8-4AB9-9A37-140F85F3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8D66C-C8AF-46B7-B958-FE616B46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E21A8-024F-415C-875F-CBA4423C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95800"/>
            <a:ext cx="2781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Recurring &amp; expenses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42DF2-CEEA-4525-A3D8-E3F17891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2762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Recurring invoices, bills, and journals that never double-post; one-click expenses.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6385B9-D538-47EF-AAC4-05F68E04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Blueprint Books for Raves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9E73E3-C09E-4512-8778-0D353C54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943058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C0981-88EE-4F0B-ADC5-C3B69769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4E9FD-4F85-4FB6-9F24-A41C9F7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F86"/>
                </a:solidFill>
              </a:defRPr>
            </a:pPr>
            <a:r>
              <a:rPr sz="1050" b="1">
                <a:solidFill>
                  <a:srgbClr val="5F6F86"/>
                </a:solidFill>
              </a:rPr>
              <a:t>COMMERCIAL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E1055-754A-4CC7-B689-FE7C7CF3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One clean foundation build, then an optional close-support lane.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E2217-C256-422A-8FDD-909902F6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876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BB60A-18B6-4D2D-AF1E-B45F5B1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409575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Blueprint Books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0F5C2-29D8-43FB-8B27-89F18C8E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00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FE0C8"/>
                </a:solidFill>
              </a:defRPr>
            </a:pPr>
            <a:r>
              <a:rPr sz="2850" b="1">
                <a:solidFill>
                  <a:srgbClr val="9FE0C8"/>
                </a:solidFill>
              </a:rPr>
              <a:t>$18,500 fixed fee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2C475-DF23-4EB2-8E05-24496827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3905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AF8"/>
                </a:solidFill>
              </a:defRPr>
            </a:pPr>
            <a:r>
              <a:rPr sz="1350" b="0">
                <a:solidFill>
                  <a:srgbClr val="D9EAF8"/>
                </a:solidFill>
              </a:rPr>
              <a:t>50% start / 50% closeout</a:t>
            </a:r>
          </a:p>
          <a:p xmlns:a="http://schemas.openxmlformats.org/drawingml/2006/main">
            <a:pPr algn="l">
              <a:defRPr sz="1350" b="0">
                <a:solidFill>
                  <a:srgbClr val="D9EAF8"/>
                </a:solidFill>
              </a:defRPr>
            </a:pPr>
            <a:r>
              <a:rPr sz="1350" b="0">
                <a:solidFill>
                  <a:srgbClr val="D9EAF8"/>
                </a:solidFill>
              </a:rPr>
              <a:t>4-5 weeks from opening-balance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06C79-E75E-4FC0-AFA6-34A8A099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381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508FB-C22C-438F-B4FE-F870FB2C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CACE4-139F-4194-A375-8D5521B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2000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Books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3D9C3-76AE-4F8E-BFFE-E472DD3E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981200" cy="952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$28,000 adds bank reconciliation, cash-flow statement, data migration from current books, and 30-day hypercare.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22929-85AB-4FA3-B946-CB2E2232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381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A3EFF-2811-423A-87B3-B044D520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71771-CB63-41EB-999C-28426195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2000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Books Care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9BF96-1D70-4C07-BA55-F15B5790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1981200" cy="952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Optional monthly lane for month-end review, reconciliation checks, and small accounting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504FF-81D7-49B7-9C4C-A34F7999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5086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535C8-4916-4672-97D8-FE9D86B4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6DE3E-69EC-4F3D-8CD6-977C8AB8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4705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Builds on what is shipped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2AD99-5B77-48EE-B6D7-D556288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46863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The ledger, A/R, A/P, registers, job costing, statements, recurring, period close, and invoice/bill/statement PDFs are already built. This phase tailors and rolls them out for Raves.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BCDCF-63DA-43C1-86C0-05C77834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Blueprint Books for Raves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26524-1564-45A7-ADA2-FFC847C8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63098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A4308-4647-4F8D-A95F-559DEE42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0A232-E92C-4FAD-B51F-907F6B29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F86"/>
                </a:solidFill>
              </a:defRPr>
            </a:pPr>
            <a:r>
              <a:rPr sz="1050" b="1">
                <a:solidFill>
                  <a:srgbClr val="5F6F86"/>
                </a:solidFill>
              </a:rPr>
              <a:t>MUTUAL 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2AC35-247F-4C65-9A9A-B3E32C13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A simple path from decision to first clean month-end.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4D3C5-5D22-4D77-AD33-2455F07B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3ED17-362B-4DB4-9566-8B11EA40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F2418-A7DF-46F7-AE7E-9CE10959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191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491DA-CD56-4365-BF9E-E3E62AA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2954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Select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919C1-BBA0-4784-B4BC-AAC25E5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295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Confirm Books Foundation or the expanded Books Complete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355A4-27F6-436D-9401-5CDEA36F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147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DA0"/>
                </a:solidFill>
              </a:defRPr>
            </a:pPr>
            <a:r>
              <a:rPr sz="1650" b="1">
                <a:solidFill>
                  <a:srgbClr val="145DA0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3136D-5A5E-4076-A401-5FE09F96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455D1-74E8-4EE1-B844-393A64AA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solidFill>
              <a:srgbClr val="145D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389C0-36A1-46E3-84A1-315D7071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62275"/>
            <a:ext cx="4191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F73DF-C767-4E07-8CF1-D4F85012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2954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Approve SOW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92CA4-21CB-42AB-B321-E7E7FF65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1295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Name the approval owner and target decision date.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E3899-8CDC-4A36-865B-1E80E6C1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DA0"/>
                </a:solidFill>
              </a:defRPr>
            </a:pPr>
            <a:r>
              <a:rPr sz="1650" b="1">
                <a:solidFill>
                  <a:srgbClr val="145DA0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A14B6-C5FA-4746-8CA3-DD1ACADC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43FBD-583A-45C2-B007-D6D97D6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A9AF7-CE77-4DED-B4F2-1A22D357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62275"/>
            <a:ext cx="4191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1910E-A9BF-4E62-A80F-BF8528B3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24250"/>
            <a:ext cx="12954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Confirm inputs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E018F-15FB-4FB9-8DE3-8881186F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05250"/>
            <a:ext cx="1295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Accounting owner, opening balances, chart-of-accounts review, and tax/entity basics.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F07A6-47CC-4EBA-BCB7-03AF796A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DA0"/>
                </a:solidFill>
              </a:defRPr>
            </a:pPr>
            <a:r>
              <a:rPr sz="1650" b="1">
                <a:solidFill>
                  <a:srgbClr val="145DA0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577CD-3389-4DAF-90D4-61F79464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E2265-1B7C-43D5-BCF3-CFC71DED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9D421-B18C-428E-A7A7-C5C29BFE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62275"/>
            <a:ext cx="4191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7CFFE-6299-434C-973B-A250C884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12954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8E555-9720-4EB4-AA96-090A7DFC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05250"/>
            <a:ext cx="1295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Tailor the books, load opening balances, wire A/R and A/P, and train the team.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503E33-9614-4A2D-8FB3-8F9997B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DA0"/>
                </a:solidFill>
              </a:defRPr>
            </a:pPr>
            <a:r>
              <a:rPr sz="1650" b="1">
                <a:solidFill>
                  <a:srgbClr val="145DA0"/>
                </a:solidFill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D2A0D4-4B60-46A3-AC00-F245FB3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1548C1-C85B-4072-9D8A-2B97C80F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7999EE-86C7-4BE3-AFCE-706807E7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62275"/>
            <a:ext cx="4191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3B3F27-5468-4F0F-A8FD-35A37B6C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2954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First close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3A9195-90F6-4E42-AB8C-D5AE3C41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05250"/>
            <a:ext cx="1295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Run the first month-end in Blueprint and lock the period.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276D7-5FBC-4596-B0A8-D0FF59F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Blueprint Books for Raves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1BCBD3-EBBA-475F-8001-8FEEEF8C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9688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3B6A6-4A4B-4DD3-B909-8E56AE19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392FE-C0CF-46F7-9B5E-614B2DF2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1C722-4F38-45C4-A553-37B56163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5300"/>
            <a:ext cx="1600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RAVES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CF2D5-22E3-4299-9E99-9A600E0B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1050"/>
            <a:ext cx="1600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FB9D2"/>
                </a:solidFill>
              </a:defRPr>
            </a:pPr>
            <a:r>
              <a:rPr sz="975" b="0">
                <a:solidFill>
                  <a:srgbClr val="9FB9D2"/>
                </a:solidFill>
              </a:rPr>
              <a:t>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D8BC7-133C-4FEF-B549-F31A7D5E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6EA"/>
                </a:solidFill>
              </a:defRPr>
            </a:pPr>
            <a:r>
              <a:rPr sz="1050" b="1">
                <a:solidFill>
                  <a:srgbClr val="BFD6EA"/>
                </a:solidFill>
              </a:rPr>
              <a:t>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81ADB-0108-48EF-B976-A42CF120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Approve Blueprint Books as the next funded phase.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2F639-1148-4DB2-8DB2-2D8ABE51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8953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FD6EA"/>
                </a:solidFill>
              </a:defRPr>
            </a:pPr>
            <a:r>
              <a:rPr sz="1425" b="0">
                <a:solidFill>
                  <a:srgbClr val="BFD6EA"/>
                </a:solidFill>
              </a:rPr>
              <a:t>Leave with one owner, one date, and the opening-balance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471C2-DE59-45B6-A74E-E2C0F91C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0477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B"/>
          </a:solidFill>
          <a:ln xmlns:a="http://schemas.openxmlformats.org/drawingml/2006/main" w="0">
            <a:solidFill>
              <a:srgbClr val="123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33890-7525-40DF-A3D6-C2FC8879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5240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E0C8"/>
                </a:solidFill>
              </a:defRPr>
            </a:pPr>
            <a:r>
              <a:rPr sz="1500" b="1">
                <a:solidFill>
                  <a:srgbClr val="9FE0C8"/>
                </a:solidFill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C4208-59B9-4FD5-BC15-A5EB714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8763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Approve the Books Foundation build at $18,500 fixed fee.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559CB-A9EC-445F-8575-7E380CF5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90487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AF8"/>
                </a:solidFill>
              </a:defRPr>
            </a:pPr>
            <a:r>
              <a:rPr sz="1350" b="0">
                <a:solidFill>
                  <a:srgbClr val="D9EAF8"/>
                </a:solidFill>
              </a:rPr>
              <a:t>Then confirm the approver, target decision date, the accounting owner, and where opening balances and the chart of accounts come from.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A349D-CA16-4A29-B183-2DBFD7C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266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FCF0E-CB00-4A80-BDA5-9A81BC2F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5F"/>
          </a:solidFill>
          <a:ln xmlns:a="http://schemas.openxmlformats.org/drawingml/2006/main" w="0">
            <a:solidFill>
              <a:srgbClr val="1D7F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F5661-0BC7-4104-8033-00B2FD4E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2286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Next artifact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E753C-902C-4DBD-8347-7F6F9BD7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9750"/>
            <a:ext cx="2266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One-page Books SOW and opening-balance checklist.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EBD49-07A5-4344-ABAD-E2FB836D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67300"/>
            <a:ext cx="266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CC0B7-3783-4387-AA1B-62144378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673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solidFill>
              <a:srgbClr val="23A6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EA0DE-9A35-44A9-BA9D-4D7B376B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57800"/>
            <a:ext cx="2286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Next meeting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A55BE-C42D-4CCE-8F8D-86428B4B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19750"/>
            <a:ext cx="2266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Kickoff once opening balances are confirmed.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1B257-A7C8-4076-B598-1E22382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266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2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1D16B-1B2C-4FAD-92C8-B41296AE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6"/>
          </a:solidFill>
          <a:ln xmlns:a="http://schemas.openxmlformats.org/drawingml/2006/main" w="0">
            <a:solidFill>
              <a:srgbClr val="D98C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554EF-FEAF-4E20-ACBF-BF082E14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2286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Next offer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1927E-7D9C-42AA-A487-D30E5E5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19750"/>
            <a:ext cx="2266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6"/>
                </a:solidFill>
              </a:defRPr>
            </a:pPr>
            <a:r>
              <a:rPr sz="1050" b="0">
                <a:solidFill>
                  <a:srgbClr val="5F6F86"/>
                </a:solidFill>
              </a:rPr>
              <a:t>Books Care after go-live for monthly close support.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10E62-C84C-4319-B98A-64D4AA0D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9D2"/>
                </a:solidFill>
              </a:defRPr>
            </a:pPr>
            <a:r>
              <a:rPr sz="900" b="0">
                <a:solidFill>
                  <a:srgbClr val="9FB9D2"/>
                </a:solidFill>
              </a:rPr>
              <a:t>Blueprint Books for Raves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E0977-3AF7-44DD-B158-E842EB01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9D2"/>
                </a:solidFill>
              </a:defRPr>
            </a:pPr>
            <a:r>
              <a:rPr sz="900" b="0">
                <a:solidFill>
                  <a:srgbClr val="9FB9D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54455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2026-06-10T02:12:16.1800000Z</dcterms:created>
  <dcterms:modified xsi:type="dcterms:W3CDTF">2026-06-10T02:12:16.1800000Z</dcterms:modified>
</coreProperties>
</file>
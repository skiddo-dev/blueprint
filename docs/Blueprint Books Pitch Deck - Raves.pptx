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0e284d9b3704795" /><Relationship Type="http://schemas.openxmlformats.org/officeDocument/2006/relationships/extended-properties" Target="/docProps/app.xml" Id="Rd6ba62189ead4112" /><Relationship Type="http://schemas.openxmlformats.org/officeDocument/2006/relationships/officeDocument" Target="/ppt/presentation.xml" Id="Rc500f95ec29d4cf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cd7c1cf701b40e1"/>
  </p:sldMasterIdLst>
  <p:notesMasterIdLst>
    <p:notesMasterId xmlns:r="http://schemas.openxmlformats.org/officeDocument/2006/relationships" r:id="R34509a59db284d2b"/>
  </p:notesMasterIdLst>
  <p:sldIdLst>
    <p:sldId xmlns:r="http://schemas.openxmlformats.org/officeDocument/2006/relationships" id="256" r:id="R0613717b404a4307"/>
    <p:sldId xmlns:r="http://schemas.openxmlformats.org/officeDocument/2006/relationships" id="257" r:id="R6c28ecc827d94c07"/>
    <p:sldId xmlns:r="http://schemas.openxmlformats.org/officeDocument/2006/relationships" id="258" r:id="Re8751f3d3c76480c"/>
    <p:sldId xmlns:r="http://schemas.openxmlformats.org/officeDocument/2006/relationships" id="259" r:id="R067281ac54c0471d"/>
    <p:sldId xmlns:r="http://schemas.openxmlformats.org/officeDocument/2006/relationships" id="260" r:id="R3ddff4d447fd41a7"/>
    <p:sldId xmlns:r="http://schemas.openxmlformats.org/officeDocument/2006/relationships" id="261" r:id="R66320dd557944bec"/>
    <p:sldId xmlns:r="http://schemas.openxmlformats.org/officeDocument/2006/relationships" id="262" r:id="Rebb1eff327664350"/>
    <p:sldId xmlns:r="http://schemas.openxmlformats.org/officeDocument/2006/relationships" id="263" r:id="R4ff9329bb769483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c9c11901c8d49b3" /><Relationship Type="http://schemas.openxmlformats.org/officeDocument/2006/relationships/slideMaster" Target="/ppt/slideMasters/slideMaster1.xml" Id="R0cd7c1cf701b40e1" /><Relationship Type="http://schemas.openxmlformats.org/officeDocument/2006/relationships/notesMaster" Target="/ppt/notesMasters/notesMaster1.xml" Id="R34509a59db284d2b" /><Relationship Type="http://schemas.openxmlformats.org/officeDocument/2006/relationships/presProps" Target="/ppt/presProps.xml" Id="R335ea8c7530c423f" /><Relationship Type="http://schemas.openxmlformats.org/officeDocument/2006/relationships/viewProps" Target="/ppt/viewProps.xml" Id="R9fc1d286d8884c57" /><Relationship Type="http://schemas.openxmlformats.org/officeDocument/2006/relationships/tableStyles" Target="/ppt/tableStyles.xml" Id="Rbedad198fd0c4ba0" /><Relationship Type="http://schemas.openxmlformats.org/officeDocument/2006/relationships/slide" Target="/ppt/slides/slide1.xml" Id="R0613717b404a4307" /><Relationship Type="http://schemas.openxmlformats.org/officeDocument/2006/relationships/slide" Target="/ppt/slides/slide2.xml" Id="R6c28ecc827d94c07" /><Relationship Type="http://schemas.openxmlformats.org/officeDocument/2006/relationships/slide" Target="/ppt/slides/slide3.xml" Id="Re8751f3d3c76480c" /><Relationship Type="http://schemas.openxmlformats.org/officeDocument/2006/relationships/slide" Target="/ppt/slides/slide4.xml" Id="R067281ac54c0471d" /><Relationship Type="http://schemas.openxmlformats.org/officeDocument/2006/relationships/slide" Target="/ppt/slides/slide5.xml" Id="R3ddff4d447fd41a7" /><Relationship Type="http://schemas.openxmlformats.org/officeDocument/2006/relationships/slide" Target="/ppt/slides/slide6.xml" Id="R66320dd557944bec" /><Relationship Type="http://schemas.openxmlformats.org/officeDocument/2006/relationships/slide" Target="/ppt/slides/slide7.xml" Id="Rebb1eff327664350" /><Relationship Type="http://schemas.openxmlformats.org/officeDocument/2006/relationships/slide" Target="/ppt/slides/slide8.xml" Id="R4ff9329bb76948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c3a2a765b56421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d197930061c435c" /><Relationship Type="http://schemas.openxmlformats.org/officeDocument/2006/relationships/notesMaster" Target="/ppt/notesMasters/notesMaster1.xml" Id="R51c534da8ee145d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e6cde2af3e54b10" /><Relationship Type="http://schemas.openxmlformats.org/officeDocument/2006/relationships/notesMaster" Target="/ppt/notesMasters/notesMaster1.xml" Id="Rc7f4c14ef61c4b9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a2e6835bc7e4d40" /><Relationship Type="http://schemas.openxmlformats.org/officeDocument/2006/relationships/notesMaster" Target="/ppt/notesMasters/notesMaster1.xml" Id="R4da9fb544f6e4b2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8dc8bde2fb64d6c" /><Relationship Type="http://schemas.openxmlformats.org/officeDocument/2006/relationships/notesMaster" Target="/ppt/notesMasters/notesMaster1.xml" Id="Re31fadccf9a54ac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3243121d5c745ef" /><Relationship Type="http://schemas.openxmlformats.org/officeDocument/2006/relationships/notesMaster" Target="/ppt/notesMasters/notesMaster1.xml" Id="Ra6be621f1966425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49eb16718f44986" /><Relationship Type="http://schemas.openxmlformats.org/officeDocument/2006/relationships/notesMaster" Target="/ppt/notesMasters/notesMaster1.xml" Id="Re8ab1630ea5848d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4ce80c8af864f96" /><Relationship Type="http://schemas.openxmlformats.org/officeDocument/2006/relationships/notesMaster" Target="/ppt/notesMasters/notesMaster1.xml" Id="Rc9a41ad90de14ef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29292983e68434b" /><Relationship Type="http://schemas.openxmlformats.org/officeDocument/2006/relationships/notesMaster" Target="/ppt/notesMasters/notesMaster1.xml" Id="R8d5265fe3d20445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6fe681986c402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50808a2c59d4065" /><Relationship Type="http://schemas.openxmlformats.org/officeDocument/2006/relationships/slideLayout" Target="/ppt/slideLayouts/slideLayout1.xml" Id="Rd679ddfa08f7437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679ddfa08f7437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800666a9624075" /><Relationship Type="http://schemas.openxmlformats.org/officeDocument/2006/relationships/notesSlide" Target="/ppt/notesSlides/notesSlide1.xml" Id="R904a479a2088411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999e0860604134" /><Relationship Type="http://schemas.openxmlformats.org/officeDocument/2006/relationships/notesSlide" Target="/ppt/notesSlides/notesSlide2.xml" Id="Rd58031cffbc847b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22c1ac1b3e4768" /><Relationship Type="http://schemas.openxmlformats.org/officeDocument/2006/relationships/notesSlide" Target="/ppt/notesSlides/notesSlide3.xml" Id="R7a70b30092a5492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aee32ddf204414" /><Relationship Type="http://schemas.openxmlformats.org/officeDocument/2006/relationships/notesSlide" Target="/ppt/notesSlides/notesSlide4.xml" Id="Rcd1756b370604cc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cf13970520408e" /><Relationship Type="http://schemas.openxmlformats.org/officeDocument/2006/relationships/notesSlide" Target="/ppt/notesSlides/notesSlide5.xml" Id="Rc58fd9c69dce4e1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40f80dae354851" /><Relationship Type="http://schemas.openxmlformats.org/officeDocument/2006/relationships/notesSlide" Target="/ppt/notesSlides/notesSlide6.xml" Id="Rf1783707e57c4b3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9ee9a25d4b4878" /><Relationship Type="http://schemas.openxmlformats.org/officeDocument/2006/relationships/notesSlide" Target="/ppt/notesSlides/notesSlide7.xml" Id="R46f9b8409ca344c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56897439e7451b" /><Relationship Type="http://schemas.openxmlformats.org/officeDocument/2006/relationships/notesSlide" Target="/ppt/notesSlides/notesSlide8.xml" Id="R7e60d8a1ded64a2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A7893B-E063-4737-816F-CF57963BE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0">
            <a:solidFill>
              <a:srgbClr val="0B1F3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8A6C01-5287-4131-B83F-390DCB6C0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2D0893-8DA4-4A4F-9065-E150ABC3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95300"/>
            <a:ext cx="1600200" cy="2667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RAVES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37820D-AF81-4BA2-9847-86120ECFE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781050"/>
            <a:ext cx="1600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9FB9D2"/>
                </a:solidFill>
              </a:defRPr>
            </a:pPr>
            <a:r>
              <a:rPr sz="975" b="0">
                <a:solidFill>
                  <a:srgbClr val="9FB9D2"/>
                </a:solidFill>
              </a:rPr>
              <a:t>Blueprint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E838FF-C853-4C63-9C4E-289B20C3A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7334250" cy="666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7CCE5"/>
                </a:solidFill>
              </a:defRPr>
            </a:pPr>
            <a:r>
              <a:rPr sz="1350" b="1">
                <a:solidFill>
                  <a:srgbClr val="A7CCE5"/>
                </a:solidFill>
              </a:rPr>
              <a:t>Blueprint Next Phase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F5F13C-2728-4137-B018-3DA876754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8382000" cy="8572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Blueprint Books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6C9E5B-CAEF-408B-8768-D1418E5B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38400"/>
            <a:ext cx="8382000" cy="495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FE0C8"/>
                </a:solidFill>
              </a:defRPr>
            </a:pPr>
            <a:r>
              <a:rPr sz="1950" b="1">
                <a:solidFill>
                  <a:srgbClr val="9FE0C8"/>
                </a:solidFill>
              </a:rPr>
              <a:t>Construction financial control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A1C71F-5A10-44E2-9F8F-C1189CFA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86100"/>
            <a:ext cx="7810500" cy="9144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9EAF8"/>
                </a:solidFill>
              </a:defRPr>
            </a:pPr>
            <a:r>
              <a:rPr sz="1725" b="0">
                <a:solidFill>
                  <a:srgbClr val="D9EAF8"/>
                </a:solidFill>
              </a:rPr>
              <a:t>Run job-costed books inside the platform Raves already uses, instead of spreadsheets and disconnected accounting.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2EACB1-8D59-4A71-BDEB-2B3CA47F3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0"/>
            <a:ext cx="4953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EB3"/>
          </a:solidFill>
          <a:ln xmlns:a="http://schemas.openxmlformats.org/drawingml/2006/main" w="0">
            <a:solidFill>
              <a:srgbClr val="2A7EB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760E0F-9E46-493A-9AF4-87CD235EC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43450"/>
            <a:ext cx="6858000" cy="5715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Decision ask: approve the Books Foundation build and confirm the accounting owner and opening balances.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C5783D-2EFE-43E6-B8AD-9ACF22D08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15000"/>
            <a:ext cx="5905500" cy="5143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FB9D2"/>
                </a:solidFill>
              </a:defRPr>
            </a:pPr>
            <a:r>
              <a:rPr sz="1125" b="0">
                <a:solidFill>
                  <a:srgbClr val="9FB9D2"/>
                </a:solidFill>
              </a:rPr>
              <a:t>Prepared for Raves Inc. / Raves Construction</a:t>
            </a:r>
          </a:p>
          <a:p xmlns:a="http://schemas.openxmlformats.org/drawingml/2006/main">
            <a:pPr algn="l">
              <a:defRPr sz="1125" b="0">
                <a:solidFill>
                  <a:srgbClr val="9FB9D2"/>
                </a:solidFill>
              </a:defRPr>
            </a:pPr>
            <a:r>
              <a:rPr sz="1125" b="0">
                <a:solidFill>
                  <a:srgbClr val="9FB9D2"/>
                </a:solidFill>
              </a:rPr>
              <a:t>June 9, 2026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3A764F-4102-492E-A226-E8F6F3F97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0005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9D2"/>
                </a:solidFill>
              </a:defRPr>
            </a:pPr>
            <a:r>
              <a:rPr sz="900" b="0">
                <a:solidFill>
                  <a:srgbClr val="9FB9D2"/>
                </a:solidFill>
              </a:rPr>
              <a:t>Blueprint Books for Raves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CB1EAF-2DA5-439A-AB57-D38773FA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FB9D2"/>
                </a:solidFill>
              </a:defRPr>
            </a:pPr>
            <a:r>
              <a:rPr sz="900" b="0">
                <a:solidFill>
                  <a:srgbClr val="9FB9D2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94525417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BDC7D1-7118-402B-8A1E-18225841B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0">
            <a:solidFill>
              <a:srgbClr val="F5F8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24C178-0352-483C-A34B-20784FD0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048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F86"/>
                </a:solidFill>
              </a:defRPr>
            </a:pPr>
            <a:r>
              <a:rPr sz="1050" b="1">
                <a:solidFill>
                  <a:srgbClr val="5F6F86"/>
                </a:solidFill>
              </a:rPr>
              <a:t>WHY NOW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1CAC90-0D04-47DE-9046-7F7206AD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953500" cy="876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The money already flows through Blueprint. The books do not yet.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E87BAB-A6C6-4FC7-B4C4-925C0F959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8953500" cy="495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F86"/>
                </a:solidFill>
              </a:defRPr>
            </a:pPr>
            <a:r>
              <a:rPr sz="1425" b="0">
                <a:solidFill>
                  <a:srgbClr val="5F6F86"/>
                </a:solidFill>
              </a:rPr>
              <a:t>Quotes, vendors, and attachments live in Blueprint, but profit, A/R, and A/P still live in spreadsheets.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4DA229-49F3-44C2-B1F0-E0B902037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24003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D6CE60-17A4-4C33-938D-CE8CAC494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66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75F70D-BBE0-44A8-8503-924F19F4F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86050"/>
            <a:ext cx="19431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</a:defRPr>
            </a:pPr>
            <a:r>
              <a:rPr sz="2250" b="1">
                <a:solidFill>
                  <a:srgbClr val="172033"/>
                </a:solidFill>
              </a:rPr>
              <a:t>$9.3M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D63744-8D33-4708-A3DF-90BD5070F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24200"/>
            <a:ext cx="1943100" cy="3810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open value in the loaded quote log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4BF910-358B-4E4F-8633-E5A69D385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495550"/>
            <a:ext cx="24003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CEB0D8-7E9E-4567-A028-1E845D77D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495550"/>
            <a:ext cx="66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536CDE-6506-4114-AE5D-48D19F2DB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686050"/>
            <a:ext cx="19431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</a:defRPr>
            </a:pPr>
            <a:r>
              <a:rPr sz="2250" b="1">
                <a:solidFill>
                  <a:srgbClr val="172033"/>
                </a:solidFill>
              </a:rPr>
              <a:t>536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F5AF6B-AEE4-492E-9697-936BD8FF7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24200"/>
            <a:ext cx="1943100" cy="3810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loaded quote-log records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6C8FC2-58DB-4551-8BAA-E8F1CECD8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495550"/>
            <a:ext cx="24003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A21E65-7D7B-4E82-BA47-A74207875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495550"/>
            <a:ext cx="66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593147-AC9D-4F8F-AA29-303EA019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19431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</a:defRPr>
            </a:pPr>
            <a:r>
              <a:rPr sz="2250" b="1">
                <a:solidFill>
                  <a:srgbClr val="172033"/>
                </a:solidFill>
              </a:rPr>
              <a:t>48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5B4822-8214-4118-AE37-C42654757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24200"/>
            <a:ext cx="1943100" cy="3810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task records driving job activity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1C4F26-8891-4575-90FB-1CC00D1A6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495550"/>
            <a:ext cx="24003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715788-6975-489C-83AF-6074506FB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495550"/>
            <a:ext cx="66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C16"/>
          </a:solidFill>
          <a:ln xmlns:a="http://schemas.openxmlformats.org/drawingml/2006/main" w="0">
            <a:solidFill>
              <a:srgbClr val="D98C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911C8E-4A94-4668-AA5A-E17EDAEA2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686050"/>
            <a:ext cx="19431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</a:defRPr>
            </a:pPr>
            <a:r>
              <a:rPr sz="2250" b="1">
                <a:solidFill>
                  <a:srgbClr val="172033"/>
                </a:solidFill>
              </a:rPr>
              <a:t>23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A1ABE1-E362-4E28-B302-6A49C2C74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124200"/>
            <a:ext cx="1943100" cy="3810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email attachments (invoices, bills, POs)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ED86B8-BCD0-4A21-8404-8939F196B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133850"/>
            <a:ext cx="24003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4C9D0C-8BDF-48EC-9C59-D1B72DFA9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133850"/>
            <a:ext cx="66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2BDC26-83E3-4ED7-A147-ADC2DA47F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324350"/>
            <a:ext cx="19431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</a:defRPr>
            </a:pPr>
            <a:r>
              <a:rPr sz="2250" b="1">
                <a:solidFill>
                  <a:srgbClr val="172033"/>
                </a:solidFill>
              </a:rPr>
              <a:t>8 / 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92EC04-0D70-4B21-A3DA-56B52DF13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762500"/>
            <a:ext cx="1943100" cy="3810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provisioned users / active last 7 days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38EFF4-6CF0-497E-80E7-2632BF4BE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133850"/>
            <a:ext cx="24003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2D628A-6C13-47AB-97F5-3B1DD34E4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133850"/>
            <a:ext cx="66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545"/>
          </a:solidFill>
          <a:ln xmlns:a="http://schemas.openxmlformats.org/drawingml/2006/main" w="0">
            <a:solidFill>
              <a:srgbClr val="B5454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D9C93E-3142-49B0-B517-06FAFDD2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324350"/>
            <a:ext cx="19431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</a:defRPr>
            </a:pPr>
            <a:r>
              <a:rPr sz="2250" b="1">
                <a:solidFill>
                  <a:srgbClr val="172033"/>
                </a:solidFill>
              </a:rPr>
              <a:t>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DD0142-7A3A-4F30-825B-D877659A4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762500"/>
            <a:ext cx="1943100" cy="3810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of that visible as job-costed books today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6E6BF0-A4B5-4FE5-933E-CC9307FBA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33850"/>
            <a:ext cx="24003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AA793A-CE63-46CF-9EE3-DBAF21719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33850"/>
            <a:ext cx="66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C16"/>
          </a:solidFill>
          <a:ln xmlns:a="http://schemas.openxmlformats.org/drawingml/2006/main" w="0">
            <a:solidFill>
              <a:srgbClr val="D98C1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8425C65-D3F1-4F09-AD7E-9CCA4155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24350"/>
            <a:ext cx="19431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</a:defRPr>
            </a:pPr>
            <a:r>
              <a:rPr sz="2250" b="1">
                <a:solidFill>
                  <a:srgbClr val="172033"/>
                </a:solidFill>
              </a:rPr>
              <a:t>27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4B04816-6377-4939-91A2-D1501F9C9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762500"/>
            <a:ext cx="1943100" cy="3810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prospect records feeding future revenue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849BD1B-7DC3-4547-8C62-65E6DCBDA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0005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Blueprint Books for Raves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90CE404-AE30-48D7-B379-584BA24BE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6027731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37E7FB-79AB-4FF5-8DC7-BA75655D9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0">
            <a:solidFill>
              <a:srgbClr val="F5F8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E497D0-80CB-4C04-A383-CA16555AB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048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F86"/>
                </a:solidFill>
              </a:defRPr>
            </a:pPr>
            <a:r>
              <a:rPr sz="1050" b="1">
                <a:solidFill>
                  <a:srgbClr val="5F6F86"/>
                </a:solidFill>
              </a:rPr>
              <a:t>SYSTEM 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9ECE3E-13B0-4923-B3D1-AFFAB676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953500" cy="876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Turn work Raves already tracks into double-entry books.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3F2798-EE40-4C2E-A248-E32A01E0F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28575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730AC7-69C2-4481-8FA8-ED6121CA6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B6C23F-1A92-4972-98D8-9EECD31C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57450"/>
            <a:ext cx="236220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What Blueprint already holds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36003E-FBAD-4249-AA36-2D78AFF2D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67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B8F446-0011-44C6-8313-73D3B7E42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908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Won quotes and contract value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AE7252-A99B-410C-B861-932A404F2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24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8EF777-2BF6-4CC8-BDDB-31252D9E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480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Vendor bills and POs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31ADFA-E65B-4FC2-A4F3-CF753B38D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81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74C102-C702-4FED-9663-1C3341047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052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Customer and vendor records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E910E2-10B9-4C88-B566-D59F93572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386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B2AABE-D720-4183-BF9B-E11004AA4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624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Job activity and attachments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495664-12DA-4B82-A3BF-FBD33F4EE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90750"/>
            <a:ext cx="28575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C2EFE9-44DC-49AF-9320-2A6A4DF7F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9075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56A757-0636-4720-AA00-A4746C401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457450"/>
            <a:ext cx="236220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Blueprint Books ledger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50E760-DB45-4F76-BF05-EC9A88998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067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FC610F-EC4E-4677-BCD4-C20E0E69B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9908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Job-costed chart of accounts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B8F3AA-9CA0-4112-B1ED-276AB7A32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524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91A97C-C4D3-45AA-A425-D2FB5FA1D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4480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Invoices, payments, A/R aging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ECC6BE-7447-4FB2-971F-74D374B6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981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EA8BEC-228B-4732-84CA-DAE5A6BD9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9052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Bills, payments, A/P aging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254F6F-F897-42ED-8712-B00B2BFC0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4386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80FD60-300E-469D-AA05-1D4C9744F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3624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Journal, trial balance, close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BB9617-9476-46AC-A7FE-509A15819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190750"/>
            <a:ext cx="28575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BDC31A-14B8-42D7-99DC-AFEE50F6F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19075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6D768B-939C-40EE-A4F3-2AFECD379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57450"/>
            <a:ext cx="236220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What Raves leadership sees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1B4B51-33CF-46AF-8777-3612DE98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067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0EA738-F76C-401C-AF0D-AD533A678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9908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Profit per job, not guesses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CCBF9FB-DEB8-4858-955B-5C78F7D69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524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9F5F00E-1E2C-48CF-BB2F-21EFF3D92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4480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Who owes us and what we owe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801C685-6EA9-4340-A078-C7ED061EE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981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F58303-B949-4A47-8D5E-1D7C7E164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9052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Tax-ready P&amp;L and balance sheet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AE52FA4-074A-4FC7-987D-560D07080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4386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851C789-A25A-424D-ABD6-CE463E323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3624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Clean, locked month-end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59C48C4-8E68-4306-B4B9-BDF46F420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276600"/>
            <a:ext cx="552450" cy="4381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D7F5F"/>
                </a:solidFill>
              </a:defRPr>
            </a:pPr>
            <a:r>
              <a:rPr sz="2550" b="1">
                <a:solidFill>
                  <a:srgbClr val="1D7F5F"/>
                </a:solidFill>
              </a:rPr>
              <a:t>-&gt;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6EB88D7-41AC-487B-B7C8-56F40CF57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76600"/>
            <a:ext cx="552450" cy="4381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45DA0"/>
                </a:solidFill>
              </a:defRPr>
            </a:pPr>
            <a:r>
              <a:rPr sz="2550" b="1">
                <a:solidFill>
                  <a:srgbClr val="145DA0"/>
                </a:solidFill>
              </a:rPr>
              <a:t>-&gt;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3A6431E-665A-4217-9858-F3C6BF9DF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0005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Blueprint Books for Raves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D97D715-A424-456C-9A3F-808ADCB1E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059518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1D6C3C6-5B8F-4384-B776-263C99132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0">
            <a:solidFill>
              <a:srgbClr val="0B1F3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54F15C-257A-47E6-BB79-0D674F15C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048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FD6EA"/>
                </a:solidFill>
              </a:defRPr>
            </a:pPr>
            <a:r>
              <a:rPr sz="1050" b="1">
                <a:solidFill>
                  <a:srgbClr val="BFD6EA"/>
                </a:solidFill>
              </a:rPr>
              <a:t>THE GAP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15F19F-9274-4FE6-A431-024748FB5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953500" cy="876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The financial picture is stitched together by hand.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A91B29-9D06-4295-9D62-25559B55B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8953500" cy="495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FD6EA"/>
                </a:solidFill>
              </a:defRPr>
            </a:pPr>
            <a:r>
              <a:rPr sz="1425" b="0">
                <a:solidFill>
                  <a:srgbClr val="BFD6EA"/>
                </a:solidFill>
              </a:rPr>
              <a:t>The risk is not a lack of revenue. It is that revenue, cost, and cash live in separate places, so profit is a guess until the accountant catches up.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10B260-6B15-4B41-8E65-1941DDEA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95300"/>
            <a:ext cx="1600200" cy="2667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RAVES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33ABC0-57C1-43E8-A652-3CD2EBC78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781050"/>
            <a:ext cx="1600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9FB9D2"/>
                </a:solidFill>
              </a:defRPr>
            </a:pPr>
            <a:r>
              <a:rPr sz="975" b="0">
                <a:solidFill>
                  <a:srgbClr val="9FB9D2"/>
                </a:solidFill>
              </a:rPr>
              <a:t>Blueprint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6B0EEA-3C36-402C-8114-145EC9125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4003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BC8F6D-9DA6-42C9-8F47-C5B861998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71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545"/>
          </a:solidFill>
          <a:ln xmlns:a="http://schemas.openxmlformats.org/drawingml/2006/main" w="0">
            <a:solidFill>
              <a:srgbClr val="B5454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51F92E-72C3-40FE-A6B3-502EE3758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2019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Job profit is a guess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24F170-5E21-4E95-8ECC-9E7EE144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09950"/>
            <a:ext cx="2000250" cy="10096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Costs sit in spreadsheets and email, so margin per job is only known late, if at all.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3EA310-A6B0-4A53-9789-B2E71DBF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857500"/>
            <a:ext cx="24003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6C8C7C-AD8B-43C3-83D9-69B7E399E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857500"/>
            <a:ext cx="571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C16"/>
          </a:solidFill>
          <a:ln xmlns:a="http://schemas.openxmlformats.org/drawingml/2006/main" w="0">
            <a:solidFill>
              <a:srgbClr val="D98C1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6F71C4-15C6-4483-A984-B782302E1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048000"/>
            <a:ext cx="2019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A/R slips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C31C37-CB9D-4624-8BCE-9427E006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09950"/>
            <a:ext cx="2000250" cy="10096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Without aging in the tool, slow-paying customers are noticed by feel, not by report.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3589B3-9F59-4EA0-84EE-EB1979697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57500"/>
            <a:ext cx="24003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52958F-DF6F-4F25-AE3C-735A584A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57500"/>
            <a:ext cx="571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8C808C-F858-45F1-B459-F3FD80D4F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48000"/>
            <a:ext cx="2019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Retainage by hand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D009B7-D9DD-481A-A0F7-30EE4E82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09950"/>
            <a:ext cx="2000250" cy="10096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Retainage receivable and payable on construction jobs is tracked manually and easy to lose.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8640D3-B375-44A8-BE80-60CA55176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857500"/>
            <a:ext cx="24003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783C3E-6A43-433C-91A3-BC71FDC32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857500"/>
            <a:ext cx="571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94830D-BDBA-4BD1-9A28-EA5F226CA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48000"/>
            <a:ext cx="2019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Month-end is manual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39CC57-0B95-4748-AFB2-5B35BD368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409950"/>
            <a:ext cx="2000250" cy="10096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Closing the books means re-keying Blueprint data into separate accounting software.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CF64E7-DA0E-43EE-B2D3-F4DFF9D5F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7810500" cy="4191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Recommended next funded phase: Blueprint Books Foundation.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5D385E-B33A-4968-994F-7F557924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0005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9D2"/>
                </a:solidFill>
              </a:defRPr>
            </a:pPr>
            <a:r>
              <a:rPr sz="900" b="0">
                <a:solidFill>
                  <a:srgbClr val="9FB9D2"/>
                </a:solidFill>
              </a:rPr>
              <a:t>Blueprint Books for Raves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8873BB-DE4C-4638-A43A-2A6978D85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FB9D2"/>
                </a:solidFill>
              </a:defRPr>
            </a:pPr>
            <a:r>
              <a:rPr sz="900" b="0">
                <a:solidFill>
                  <a:srgbClr val="9FB9D2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4469791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DAC983-BF32-4B4C-898E-3AE108584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0">
            <a:solidFill>
              <a:srgbClr val="F5F8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3B783C-7BC2-4CB8-A95E-D0E4DAE2E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048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F86"/>
                </a:solidFill>
              </a:defRPr>
            </a:pPr>
            <a:r>
              <a:rPr sz="1050" b="1">
                <a:solidFill>
                  <a:srgbClr val="5F6F86"/>
                </a:solidFill>
              </a:rPr>
              <a:t>WHAT IT DELIVERS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E5E229-0DEC-4245-821C-E3916EB67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953500" cy="876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A real set of construction books, already built into Blueprint.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B027C6-89BD-4DA2-8537-798848437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31623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A52360-9BBC-4C21-B78D-0506487F1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50817E-6C20-41B0-AB3E-D8E0C64A9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2700"/>
            <a:ext cx="2781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Job-costed accounts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61F9F4-1537-4711-98DC-CDD947189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14650"/>
            <a:ext cx="276225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Construction chart of accounts: retainage, WIP, change orders, and job-cost categories.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1A3116-B1C1-43F2-B302-104261A40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62200"/>
            <a:ext cx="31623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9C9AF4-758E-4D97-97BF-CF3F82DD0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622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BBF5B6-2362-41A5-97B4-03A237440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552700"/>
            <a:ext cx="2781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Invoices &amp; A/R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1BE95D-D58A-49AC-8527-C256F3916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14650"/>
            <a:ext cx="276225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Invoice customers from won quotes, record payments, and watch A/R aging buckets.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FE90C4-3BC3-4712-A11A-579536783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62200"/>
            <a:ext cx="31623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8DC384-BBF2-448C-8453-C3347F05E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622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C16"/>
          </a:solidFill>
          <a:ln xmlns:a="http://schemas.openxmlformats.org/drawingml/2006/main" w="0">
            <a:solidFill>
              <a:srgbClr val="D98C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F36BDF-B311-408E-8F3E-F43762C4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52700"/>
            <a:ext cx="2781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Bills &amp; A/P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A3E976-5FA0-471C-BBAF-C713193F0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14650"/>
            <a:ext cx="276225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Enter vendor bills, pay them, and watch what Raves owes with A/P aging.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7587FC-CC78-4E92-AFCD-C402424DE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31623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5872EE-84A1-4C6B-AF77-A635E1EB8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DCB86D-C48E-447C-978E-0B1F38380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95800"/>
            <a:ext cx="2781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Ledger &amp; trial balance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0A3D26-CBB0-44E9-B962-5514F0E69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57750"/>
            <a:ext cx="276225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Double-entry journal and a live trial balance that always ties out to the penny.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828EF8-698A-4E0B-8312-FCCC5D62A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05300"/>
            <a:ext cx="31623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0CB44C-F091-4334-99E8-D481EECA4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053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98A007-9365-4DE6-9839-0977F7959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495800"/>
            <a:ext cx="2781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Statements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6220BF-AB0A-4EF7-A848-BB13CD12C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857750"/>
            <a:ext cx="276225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Income statement and balance sheet on demand, no re-keying into other software.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40B84B-4B70-48F2-A69D-C763EB950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305300"/>
            <a:ext cx="31623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CA8C11-2BA0-4B6F-93D3-F68F971C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3053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0217CB-9790-4C22-B3F5-5B6C29772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95800"/>
            <a:ext cx="2781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Close &amp; PDFs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2383C8-B40D-45D1-83E8-736F506BB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57750"/>
            <a:ext cx="276225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Lock a period when it is final, and send branded invoice and bill PDFs.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FE49D6-AFC4-4C37-BFC9-17B3C7A59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0005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Blueprint Books for Raves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63ABC36-A024-4296-8658-5602446F8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46998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B94C60-2846-4F58-B96C-C374CC1C6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0">
            <a:solidFill>
              <a:srgbClr val="F5F8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CA2518-5FED-4D0B-93E0-4EA493E0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048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F86"/>
                </a:solidFill>
              </a:defRPr>
            </a:pPr>
            <a:r>
              <a:rPr sz="1050" b="1">
                <a:solidFill>
                  <a:srgbClr val="5F6F86"/>
                </a:solidFill>
              </a:rPr>
              <a:t>COMMERCIAL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0C2D44-ACB2-4816-8D82-5D5085488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953500" cy="876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One clean foundation build, then an optional close-support lane.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8FCFDF-3AC9-439D-BEC6-D5407A9F3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48768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0">
            <a:solidFill>
              <a:srgbClr val="0B1F3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FE063A-A4C6-4178-BD7C-5043B281F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24150"/>
            <a:ext cx="4095750" cy="5334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Blueprint Books Foundation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30E489-E0A3-4CCF-AA1B-403A59201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90900"/>
            <a:ext cx="4000500" cy="5143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FE0C8"/>
                </a:solidFill>
              </a:defRPr>
            </a:pPr>
            <a:r>
              <a:rPr sz="2850" b="1">
                <a:solidFill>
                  <a:srgbClr val="9FE0C8"/>
                </a:solidFill>
              </a:rPr>
              <a:t>$18,500 fixed fee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0F2EC3-6A11-4A5F-8AA8-3B35519F6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38600"/>
            <a:ext cx="3905250" cy="6286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9EAF8"/>
                </a:solidFill>
              </a:defRPr>
            </a:pPr>
            <a:r>
              <a:rPr sz="1350" b="0">
                <a:solidFill>
                  <a:srgbClr val="D9EAF8"/>
                </a:solidFill>
              </a:rPr>
              <a:t>50% start / 50% closeout</a:t>
            </a:r>
          </a:p>
          <a:p xmlns:a="http://schemas.openxmlformats.org/drawingml/2006/main">
            <a:pPr algn="l">
              <a:defRPr sz="1350" b="0">
                <a:solidFill>
                  <a:srgbClr val="D9EAF8"/>
                </a:solidFill>
              </a:defRPr>
            </a:pPr>
            <a:r>
              <a:rPr sz="1350" b="0">
                <a:solidFill>
                  <a:srgbClr val="D9EAF8"/>
                </a:solidFill>
              </a:rPr>
              <a:t>4-5 weeks from opening-balance readiness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2178DD-B684-4E35-8704-C2C38FE02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23812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5D80F3-3A2B-4739-8ED5-DB368DA3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71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C16"/>
          </a:solidFill>
          <a:ln xmlns:a="http://schemas.openxmlformats.org/drawingml/2006/main" w="0">
            <a:solidFill>
              <a:srgbClr val="D98C1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E2AB-7FBF-4802-8A39-E87487BCD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33650"/>
            <a:ext cx="200025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Books Complete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D8EED0-E9F5-4C4C-92A4-F1747825C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95600"/>
            <a:ext cx="1981200" cy="9525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$28,000 adds bank reconciliation, cash-flow statement, data migration from current books, and 30-day hypercare.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D8C914-E283-49F1-9819-467F3F7C8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43150"/>
            <a:ext cx="23812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323D72-AC62-4460-B4F3-B7E015A3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43150"/>
            <a:ext cx="571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93C933-AEE3-4BF3-AD1D-E6773DC34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533650"/>
            <a:ext cx="200025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Books Care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81FD7F-460B-4459-B615-4AEB5ACDA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895600"/>
            <a:ext cx="1981200" cy="9525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Optional monthly lane for month-end review, reconciliation checks, and small accounting changes.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FB046D-5880-4DBF-AD53-BF0138024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343400"/>
            <a:ext cx="50863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735742-12BE-4366-A800-2567BADC1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3434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8F14AA-06B3-4A77-AEE0-415E490E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533900"/>
            <a:ext cx="470535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Builds on what is shipped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C478BE-A0F9-44AA-BD61-450F3BDF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895850"/>
            <a:ext cx="468630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The ledger, A/R, A/P, statements, period close, and invoice/bill PDFs are already built. This phase tailors and rolls them out for Raves.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00C9A4-CF7C-4CC5-9A92-C5F1C2658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0005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Blueprint Books for Raves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EE223D-B550-49A9-ADC7-95982363E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3717276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6A6D2B-B21C-449F-94E7-AB083697E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0">
            <a:solidFill>
              <a:srgbClr val="F5F8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68B8E8-607E-41FE-83BF-5DB13F1C7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048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F86"/>
                </a:solidFill>
              </a:defRPr>
            </a:pPr>
            <a:r>
              <a:rPr sz="1050" b="1">
                <a:solidFill>
                  <a:srgbClr val="5F6F86"/>
                </a:solidFill>
              </a:rPr>
              <a:t>MUTUAL ACTION PLAN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6A3F36-2782-4064-A9CA-FE71731E8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953500" cy="876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A simple path from decision to first clean month-end.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C4EC31-080F-4C5A-88BC-C69974774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16764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5F0CB2-1B03-411F-818C-D4B93A049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956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CC2314-9098-4C14-BB5C-F50A32F7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62275"/>
            <a:ext cx="4191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D6D3C0-6417-42CC-AF1C-5E6438CEC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24250"/>
            <a:ext cx="1295400" cy="3048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33"/>
                </a:solidFill>
              </a:defRPr>
            </a:pPr>
            <a:r>
              <a:rPr sz="1275" b="1">
                <a:solidFill>
                  <a:srgbClr val="172033"/>
                </a:solidFill>
              </a:rPr>
              <a:t>Select package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4B152A-B23C-4C61-B310-FCB436F0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05250"/>
            <a:ext cx="129540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F86"/>
                </a:solidFill>
              </a:defRPr>
            </a:pPr>
            <a:r>
              <a:rPr sz="900" b="0">
                <a:solidFill>
                  <a:srgbClr val="5F6F86"/>
                </a:solidFill>
              </a:rPr>
              <a:t>Confirm Books Foundation or the expanded Books Complete scope.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750400-E5BF-40B4-A798-65C5D3BEB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314700"/>
            <a:ext cx="32385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45DA0"/>
                </a:solidFill>
              </a:defRPr>
            </a:pPr>
            <a:r>
              <a:rPr sz="1650" b="1">
                <a:solidFill>
                  <a:srgbClr val="145DA0"/>
                </a:solidFill>
              </a:rPr>
              <a:t>-&gt;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AE3365-585C-4CBC-9E48-A5CC0126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667000"/>
            <a:ext cx="16764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DB1777-F213-46DB-89A8-C382865C8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8956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53FEC5-E103-411A-B2B7-DA9485350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962275"/>
            <a:ext cx="4191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0A2E50-46A9-4E17-BF48-7ED1B5C99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524250"/>
            <a:ext cx="1295400" cy="3048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33"/>
                </a:solidFill>
              </a:defRPr>
            </a:pPr>
            <a:r>
              <a:rPr sz="1275" b="1">
                <a:solidFill>
                  <a:srgbClr val="172033"/>
                </a:solidFill>
              </a:rPr>
              <a:t>Approve SOW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41EFDA-9662-4466-AE8F-243FCDC71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05250"/>
            <a:ext cx="129540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F86"/>
                </a:solidFill>
              </a:defRPr>
            </a:pPr>
            <a:r>
              <a:rPr sz="900" b="0">
                <a:solidFill>
                  <a:srgbClr val="5F6F86"/>
                </a:solidFill>
              </a:rPr>
              <a:t>Name the approval owner and target decision date.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17AD14-D47E-4F88-82FF-8A5E8631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314700"/>
            <a:ext cx="32385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45DA0"/>
                </a:solidFill>
              </a:defRPr>
            </a:pPr>
            <a:r>
              <a:rPr sz="1650" b="1">
                <a:solidFill>
                  <a:srgbClr val="145DA0"/>
                </a:solidFill>
              </a:rPr>
              <a:t>-&gt;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4A4E22-CD49-4362-8EDC-3A87A0EDC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667000"/>
            <a:ext cx="16764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D329D8-854C-4EF6-AF36-3459ADF18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8956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C16"/>
          </a:solidFill>
          <a:ln xmlns:a="http://schemas.openxmlformats.org/drawingml/2006/main" w="0">
            <a:solidFill>
              <a:srgbClr val="D98C1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5C2873-C70B-4A18-A316-57F7CE7DA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962275"/>
            <a:ext cx="4191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935C07-3DC0-4839-A15F-CEB67CC04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524250"/>
            <a:ext cx="1295400" cy="3048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33"/>
                </a:solidFill>
              </a:defRPr>
            </a:pPr>
            <a:r>
              <a:rPr sz="1275" b="1">
                <a:solidFill>
                  <a:srgbClr val="172033"/>
                </a:solidFill>
              </a:rPr>
              <a:t>Confirm inputs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E87362-C655-4F6C-A01E-E69F8E4A4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905250"/>
            <a:ext cx="129540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F86"/>
                </a:solidFill>
              </a:defRPr>
            </a:pPr>
            <a:r>
              <a:rPr sz="900" b="0">
                <a:solidFill>
                  <a:srgbClr val="5F6F86"/>
                </a:solidFill>
              </a:rPr>
              <a:t>Accounting owner, opening balances, chart-of-accounts review, and tax/entity basics.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67F3B6-E6C8-4ADE-A2CA-18F96700A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14700"/>
            <a:ext cx="32385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45DA0"/>
                </a:solidFill>
              </a:defRPr>
            </a:pPr>
            <a:r>
              <a:rPr sz="1650" b="1">
                <a:solidFill>
                  <a:srgbClr val="145DA0"/>
                </a:solidFill>
              </a:rPr>
              <a:t>-&gt;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6A2267-8991-473D-817C-DAFD4D4CB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67000"/>
            <a:ext cx="16764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FF0EDE-14EB-4176-9752-876BCE6A8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956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C54F7A-20E8-4346-BD77-A21E6EADE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962275"/>
            <a:ext cx="4191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3A5393-A83B-4F98-AACA-EBE2D9E7B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524250"/>
            <a:ext cx="1295400" cy="3048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33"/>
                </a:solidFill>
              </a:defRPr>
            </a:pPr>
            <a:r>
              <a:rPr sz="1275" b="1">
                <a:solidFill>
                  <a:srgbClr val="172033"/>
                </a:solidFill>
              </a:rPr>
              <a:t>Implement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C90377-4FCA-4F0F-8BC0-02D4D6774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905250"/>
            <a:ext cx="129540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F86"/>
                </a:solidFill>
              </a:defRPr>
            </a:pPr>
            <a:r>
              <a:rPr sz="900" b="0">
                <a:solidFill>
                  <a:srgbClr val="5F6F86"/>
                </a:solidFill>
              </a:rPr>
              <a:t>Tailor the books, load opening balances, wire A/R and A/P, and train the team.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0DC221-DD03-46CE-AC48-0D0CF70C7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314700"/>
            <a:ext cx="32385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45DA0"/>
                </a:solidFill>
              </a:defRPr>
            </a:pPr>
            <a:r>
              <a:rPr sz="1650" b="1">
                <a:solidFill>
                  <a:srgbClr val="145DA0"/>
                </a:solidFill>
              </a:rPr>
              <a:t>-&gt;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95BE77-403B-43CA-A97C-CA4BBD75F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67000"/>
            <a:ext cx="16764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1D66969-7142-4597-ABAD-43FC1396D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8956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9F8709C-4A2C-4955-9BF4-2A2012A71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962275"/>
            <a:ext cx="4191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2256C3-E74C-4DC2-B1E1-DE67E7ACA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524250"/>
            <a:ext cx="1295400" cy="3048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33"/>
                </a:solidFill>
              </a:defRPr>
            </a:pPr>
            <a:r>
              <a:rPr sz="1275" b="1">
                <a:solidFill>
                  <a:srgbClr val="172033"/>
                </a:solidFill>
              </a:rPr>
              <a:t>First close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223226E-E442-4985-91F5-0338C41F7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905250"/>
            <a:ext cx="129540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F86"/>
                </a:solidFill>
              </a:defRPr>
            </a:pPr>
            <a:r>
              <a:rPr sz="900" b="0">
                <a:solidFill>
                  <a:srgbClr val="5F6F86"/>
                </a:solidFill>
              </a:rPr>
              <a:t>Run the first month-end in Blueprint and lock the period.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21545E4-348C-47BB-816F-3C4135891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0005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Blueprint Books for Raves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ADCAA2C-B943-42CA-8715-071DE0D3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79966565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0DB517-4795-44DD-8124-488FBDCB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0">
            <a:solidFill>
              <a:srgbClr val="0B1F3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7BA575-F069-45FC-9C29-4767EF66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969549-37F4-46E4-85C3-CE484BB99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95300"/>
            <a:ext cx="1600200" cy="2667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RAVES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6E2E55-84A3-48B4-8D56-C1D7E897B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781050"/>
            <a:ext cx="1600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9FB9D2"/>
                </a:solidFill>
              </a:defRPr>
            </a:pPr>
            <a:r>
              <a:rPr sz="975" b="0">
                <a:solidFill>
                  <a:srgbClr val="9FB9D2"/>
                </a:solidFill>
              </a:rPr>
              <a:t>Blueprint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B620E0-5FB7-4ED0-BDD6-60BF96C60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048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FD6EA"/>
                </a:solidFill>
              </a:defRPr>
            </a:pPr>
            <a:r>
              <a:rPr sz="1050" b="1">
                <a:solidFill>
                  <a:srgbClr val="BFD6EA"/>
                </a:solidFill>
              </a:rPr>
              <a:t>DECISION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79FCDD-34B5-4293-8CA4-4D2EDA68F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953500" cy="876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Approve Blueprint Books as the next funded phase.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F3C97E-3732-454B-9917-3ADD75C39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8953500" cy="495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FD6EA"/>
                </a:solidFill>
              </a:defRPr>
            </a:pPr>
            <a:r>
              <a:rPr sz="1425" b="0">
                <a:solidFill>
                  <a:srgbClr val="BFD6EA"/>
                </a:solidFill>
              </a:rPr>
              <a:t>Leave with one owner, one date, and the opening-balance source.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578646-9AE0-4646-9907-36C46103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05100"/>
            <a:ext cx="104775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A5B"/>
          </a:solidFill>
          <a:ln xmlns:a="http://schemas.openxmlformats.org/drawingml/2006/main" w="0">
            <a:solidFill>
              <a:srgbClr val="123A5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DBD502-9AE1-47D9-B6BA-A09B1EBC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990850"/>
            <a:ext cx="1524000" cy="3429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9FE0C8"/>
                </a:solidFill>
              </a:defRPr>
            </a:pPr>
            <a:r>
              <a:rPr sz="1500" b="1">
                <a:solidFill>
                  <a:srgbClr val="9FE0C8"/>
                </a:solidFill>
              </a:rPr>
              <a:t>Ask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DE4881-679E-4746-96EE-5AB9189B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90900"/>
            <a:ext cx="8763000" cy="5524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Approve the Books Foundation build at $18,500 fixed fee.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4C7A4A-91D1-4AC2-B204-CA8765675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38600"/>
            <a:ext cx="904875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9EAF8"/>
                </a:solidFill>
              </a:defRPr>
            </a:pPr>
            <a:r>
              <a:rPr sz="1350" b="0">
                <a:solidFill>
                  <a:srgbClr val="D9EAF8"/>
                </a:solidFill>
              </a:rPr>
              <a:t>Then confirm the approver, target decision date, the accounting owner, and where opening balances and the chart of accounts come from.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AE985C-6F8F-421E-AA19-C939451C7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67300"/>
            <a:ext cx="2667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C9B545-8745-4D47-958F-A23173D51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67300"/>
            <a:ext cx="57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CF2E46-F217-45B7-9067-0FBB1317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257800"/>
            <a:ext cx="22860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Next artifact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9D4A08-64F6-498E-BEFC-184BA2E50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619750"/>
            <a:ext cx="226695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One-page Books SOW and opening-balance checklist.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8002BF-4A2F-458B-AC47-46CA07FB5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067300"/>
            <a:ext cx="2667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3F41E0-1614-442F-BF75-5091CE034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067300"/>
            <a:ext cx="57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D341B2-17BC-4B2C-808F-A17F6872E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257800"/>
            <a:ext cx="22860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Next meeting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EEA710-BF95-4686-AC05-004C58A3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619750"/>
            <a:ext cx="226695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Kickoff once opening balances are confirmed.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A93588-F87F-48FF-AB8B-E289E02A1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67300"/>
            <a:ext cx="2667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23091D-9476-4E17-8505-FFAA7014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67300"/>
            <a:ext cx="57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C16"/>
          </a:solidFill>
          <a:ln xmlns:a="http://schemas.openxmlformats.org/drawingml/2006/main" w="0">
            <a:solidFill>
              <a:srgbClr val="D98C1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EE94B7-E2D3-4B9D-AED3-9D6BA4DDA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257800"/>
            <a:ext cx="22860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Next offer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2EF805-DA50-4723-9652-AC727A611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619750"/>
            <a:ext cx="226695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Books Care after go-live for monthly close support.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763400-80CC-472C-A600-54161D2D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0005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9D2"/>
                </a:solidFill>
              </a:defRPr>
            </a:pPr>
            <a:r>
              <a:rPr sz="900" b="0">
                <a:solidFill>
                  <a:srgbClr val="9FB9D2"/>
                </a:solidFill>
              </a:rPr>
              <a:t>Blueprint Books for Raves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B0AF35-040E-46E4-A320-6120EED4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FB9D2"/>
                </a:solidFill>
              </a:defRPr>
            </a:pPr>
            <a:r>
              <a:rPr sz="900" b="0">
                <a:solidFill>
                  <a:srgbClr val="9FB9D2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463044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2026-06-09T19:14:17.7190000Z</dcterms:created>
  <dcterms:modified xsi:type="dcterms:W3CDTF">2026-06-09T19:14:17.7190000Z</dcterms:modified>
</coreProperties>
</file>